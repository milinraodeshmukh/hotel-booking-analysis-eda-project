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74" r:id="rId4"/>
    <p:sldId id="291" r:id="rId5"/>
    <p:sldId id="292" r:id="rId6"/>
    <p:sldId id="275" r:id="rId7"/>
    <p:sldId id="293" r:id="rId8"/>
    <p:sldId id="294" r:id="rId9"/>
    <p:sldId id="296" r:id="rId10"/>
    <p:sldId id="295" r:id="rId11"/>
    <p:sldId id="297" r:id="rId12"/>
    <p:sldId id="298" r:id="rId13"/>
    <p:sldId id="299" r:id="rId14"/>
    <p:sldId id="300" r:id="rId15"/>
    <p:sldId id="301" r:id="rId16"/>
    <p:sldId id="302" r:id="rId17"/>
    <p:sldId id="305" r:id="rId18"/>
    <p:sldId id="288" r:id="rId19"/>
    <p:sldId id="304" r:id="rId20"/>
    <p:sldId id="289" r:id="rId21"/>
    <p:sldId id="29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p:scale>
          <a:sx n="66" d="100"/>
          <a:sy n="66" d="100"/>
        </p:scale>
        <p:origin x="1190" y="60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E17388-7FD9-47E4-9C1C-4E281F8D6376}" type="datetimeFigureOut">
              <a:rPr lang="en-IN" smtClean="0"/>
              <a:t>27-07-2025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02A41-2B41-4C42-8F4A-44F15A8BAAFF}" type="slidenum">
              <a:rPr lang="en-IN" smtClean="0"/>
              <a:t>‹#›</a:t>
            </a:fld>
            <a:endParaRPr lang="en-IN"/>
          </a:p>
        </p:txBody>
      </p:sp>
    </p:spTree>
    <p:extLst>
      <p:ext uri="{BB962C8B-B14F-4D97-AF65-F5344CB8AC3E}">
        <p14:creationId xmlns:p14="http://schemas.microsoft.com/office/powerpoint/2010/main" val="165040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EF6E-E45B-4FCE-90B5-2692630F6E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0FE3199-A4F1-4B22-BD76-CB2471AB2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F4A52F-D0EA-4489-8B88-A29B441D90A3}"/>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5" name="Footer Placeholder 4">
            <a:extLst>
              <a:ext uri="{FF2B5EF4-FFF2-40B4-BE49-F238E27FC236}">
                <a16:creationId xmlns:a16="http://schemas.microsoft.com/office/drawing/2014/main" id="{CF84DC58-F2BC-42EA-9AE8-7DE48F2347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D08E15-3E35-4BF3-8D02-AA881293AD0E}"/>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814347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F66E0-61E6-452D-A837-51F99EBC7B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A2996B-550A-422B-8C1E-E3BAE77D29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64E71C-1C8A-44D7-AB44-6B5D0657A426}"/>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5" name="Footer Placeholder 4">
            <a:extLst>
              <a:ext uri="{FF2B5EF4-FFF2-40B4-BE49-F238E27FC236}">
                <a16:creationId xmlns:a16="http://schemas.microsoft.com/office/drawing/2014/main" id="{749E54F9-7DC0-4640-9425-D229E58B4B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F850FA-7A8F-4211-B03C-34F2D374167E}"/>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399524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F8E7D-3428-43EE-A694-A4BA6A5B73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A577D1A-FA6F-45D2-863A-7374829C2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4C82C9-EF31-42C1-88E8-5914CFF2ABCB}"/>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5" name="Footer Placeholder 4">
            <a:extLst>
              <a:ext uri="{FF2B5EF4-FFF2-40B4-BE49-F238E27FC236}">
                <a16:creationId xmlns:a16="http://schemas.microsoft.com/office/drawing/2014/main" id="{A2F3E44E-BFD7-46ED-8481-D8F0219D38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63C085-AF0D-4EDE-A353-5AAD8CA85BCC}"/>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3416920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4E2BB-C670-40C2-898A-F3C8F0E251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D601A3-3001-4320-9B04-4F54271E37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B4E3344-DB49-47E8-B76F-0601BD2D7D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DB247E-5443-4C7A-AF27-99B661917042}"/>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6" name="Footer Placeholder 5">
            <a:extLst>
              <a:ext uri="{FF2B5EF4-FFF2-40B4-BE49-F238E27FC236}">
                <a16:creationId xmlns:a16="http://schemas.microsoft.com/office/drawing/2014/main" id="{505FCE49-C5C7-4AFB-AE96-667624B721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1B4173-250C-4483-A68D-4A0F3272F7A0}"/>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574536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5471F-3F7A-489E-8869-3C059E45991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8BA3D4-0D50-407C-89ED-3FAD563B43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22D70C-7E55-4A7A-9BB7-B38EE75A98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3DDBE8-A975-4FF1-BC79-AC7B6AAAB1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30225C-B5EB-4B7C-9295-B6719B877C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9C5F5E-53E3-4B01-A587-0369B462EFFA}"/>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8" name="Footer Placeholder 7">
            <a:extLst>
              <a:ext uri="{FF2B5EF4-FFF2-40B4-BE49-F238E27FC236}">
                <a16:creationId xmlns:a16="http://schemas.microsoft.com/office/drawing/2014/main" id="{E27838B7-A0E4-4866-AC68-5756CD62F2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CF943E-495D-42CA-AE58-34E0E0C983E0}"/>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870697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8D2FE-5C8B-4375-B914-2DA2BA5C6B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B256FC-7583-4B2A-A6DB-D156B31EAFFC}"/>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4" name="Footer Placeholder 3">
            <a:extLst>
              <a:ext uri="{FF2B5EF4-FFF2-40B4-BE49-F238E27FC236}">
                <a16:creationId xmlns:a16="http://schemas.microsoft.com/office/drawing/2014/main" id="{9B038448-7F6B-4D61-8E87-06F4809B9E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983071-D6DE-449F-BB6C-1CBAC949AA8B}"/>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3345712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D9DAD9-C792-477F-8C6A-D44A68D20315}"/>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3" name="Footer Placeholder 2">
            <a:extLst>
              <a:ext uri="{FF2B5EF4-FFF2-40B4-BE49-F238E27FC236}">
                <a16:creationId xmlns:a16="http://schemas.microsoft.com/office/drawing/2014/main" id="{546876D8-1B75-4A39-9148-45C92F5117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172D95-E9CD-4DE7-B30D-A66993E6DAD8}"/>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03273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87584-72A1-4816-927E-944A7F2B67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48EA4E-72B1-489F-8823-841A95BE94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06CCEA-7259-49E2-A187-51B3CF4D7B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0AC1D5-8574-4D2F-97C0-31BEC5D85788}"/>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6" name="Footer Placeholder 5">
            <a:extLst>
              <a:ext uri="{FF2B5EF4-FFF2-40B4-BE49-F238E27FC236}">
                <a16:creationId xmlns:a16="http://schemas.microsoft.com/office/drawing/2014/main" id="{595DB4B9-7A89-430F-8525-AB0A822FFB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9BE456-F3E1-4C20-8F32-DA4DA3F8399F}"/>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889532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82E57-1D37-4704-9BF6-64E16AC1C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4D7B9E1-18F8-428E-8960-3A5C339655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7640D0-ED5A-4491-8B8C-2A1364CDA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138044-4215-4430-B8F1-C0AD3036B818}"/>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6" name="Footer Placeholder 5">
            <a:extLst>
              <a:ext uri="{FF2B5EF4-FFF2-40B4-BE49-F238E27FC236}">
                <a16:creationId xmlns:a16="http://schemas.microsoft.com/office/drawing/2014/main" id="{CBD71ACA-89DC-422D-B2F5-5CE11BA4E6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38B2C6-152B-4178-85D0-5CE141CCDBCB}"/>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03039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BF994-29B0-4738-BBEB-A8753817A0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3F4AAC-D8B7-423F-A756-C821CF702E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6BAEC1-B9E4-4927-A5D9-48A4B4631AAC}"/>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5" name="Footer Placeholder 4">
            <a:extLst>
              <a:ext uri="{FF2B5EF4-FFF2-40B4-BE49-F238E27FC236}">
                <a16:creationId xmlns:a16="http://schemas.microsoft.com/office/drawing/2014/main" id="{9E22C3AA-88A3-495E-9283-0C66679DD8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C5BFD1-95BD-426F-A2FD-1413E64038AD}"/>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2147185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CB9FC4-BC55-4C9C-AF17-84959DA3D9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2CD9F2-88A8-4BE7-833F-690567492D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15F6EE-AC42-4785-906C-057593E7D26F}"/>
              </a:ext>
            </a:extLst>
          </p:cNvPr>
          <p:cNvSpPr>
            <a:spLocks noGrp="1"/>
          </p:cNvSpPr>
          <p:nvPr>
            <p:ph type="dt" sz="half" idx="10"/>
          </p:nvPr>
        </p:nvSpPr>
        <p:spPr/>
        <p:txBody>
          <a:bodyPr/>
          <a:lstStyle/>
          <a:p>
            <a:fld id="{C0905390-93AA-4EE1-980F-1A51A0E402D6}" type="datetimeFigureOut">
              <a:rPr lang="en-IN" smtClean="0"/>
              <a:t>27-07-2025</a:t>
            </a:fld>
            <a:endParaRPr lang="en-IN"/>
          </a:p>
        </p:txBody>
      </p:sp>
      <p:sp>
        <p:nvSpPr>
          <p:cNvPr id="5" name="Footer Placeholder 4">
            <a:extLst>
              <a:ext uri="{FF2B5EF4-FFF2-40B4-BE49-F238E27FC236}">
                <a16:creationId xmlns:a16="http://schemas.microsoft.com/office/drawing/2014/main" id="{56E2E20D-7A53-4E10-9B02-F7D7E5890F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2153AD-3A55-4865-9281-21E4DCBD51C9}"/>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52311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56850D-F602-4B32-87BC-32C4596F9B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36F220-9776-454E-9914-7A4980848D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06E903-E5F3-4E64-9D07-6BE9E4614B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905390-93AA-4EE1-980F-1A51A0E402D6}" type="datetimeFigureOut">
              <a:rPr lang="en-IN" smtClean="0"/>
              <a:t>27-07-2025</a:t>
            </a:fld>
            <a:endParaRPr lang="en-IN"/>
          </a:p>
        </p:txBody>
      </p:sp>
      <p:sp>
        <p:nvSpPr>
          <p:cNvPr id="5" name="Footer Placeholder 4">
            <a:extLst>
              <a:ext uri="{FF2B5EF4-FFF2-40B4-BE49-F238E27FC236}">
                <a16:creationId xmlns:a16="http://schemas.microsoft.com/office/drawing/2014/main" id="{6BBA19DC-ABAD-49A6-BD16-80BB7C8F22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D5567AB-D9F2-4BEE-ACA7-835F21DC34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A697F-79C4-4984-B55B-108D077DDBFB}" type="slidenum">
              <a:rPr lang="en-IN" smtClean="0"/>
              <a:t>‹#›</a:t>
            </a:fld>
            <a:endParaRPr lang="en-IN"/>
          </a:p>
        </p:txBody>
      </p:sp>
    </p:spTree>
    <p:extLst>
      <p:ext uri="{BB962C8B-B14F-4D97-AF65-F5344CB8AC3E}">
        <p14:creationId xmlns:p14="http://schemas.microsoft.com/office/powerpoint/2010/main" val="4275704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507CE85-D2DA-495A-9DB0-4259B8A0B850}"/>
              </a:ext>
            </a:extLst>
          </p:cNvPr>
          <p:cNvCxnSpPr>
            <a:cxnSpLocks/>
          </p:cNvCxnSpPr>
          <p:nvPr/>
        </p:nvCxnSpPr>
        <p:spPr>
          <a:xfrm>
            <a:off x="78902" y="1293145"/>
            <a:ext cx="12054086" cy="80712"/>
          </a:xfrm>
          <a:prstGeom prst="line">
            <a:avLst/>
          </a:prstGeom>
          <a:ln w="762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E540BB2C-364E-4ECE-BBE9-D005358389BD}"/>
              </a:ext>
            </a:extLst>
          </p:cNvPr>
          <p:cNvSpPr txBox="1"/>
          <p:nvPr/>
        </p:nvSpPr>
        <p:spPr>
          <a:xfrm>
            <a:off x="1311425" y="219577"/>
            <a:ext cx="9569149" cy="923330"/>
          </a:xfrm>
          <a:prstGeom prst="rect">
            <a:avLst/>
          </a:prstGeom>
          <a:noFill/>
        </p:spPr>
        <p:txBody>
          <a:bodyPr wrap="square">
            <a:spAutoFit/>
          </a:bodyPr>
          <a:lstStyle/>
          <a:p>
            <a:pPr lvl="0" algn="ctr"/>
            <a:r>
              <a:rPr lang="en-IN" sz="5400" b="1" dirty="0">
                <a:solidFill>
                  <a:schemeClr val="accent1">
                    <a:lumMod val="75000"/>
                  </a:schemeClr>
                </a:solidFill>
                <a:latin typeface="Leelawadee" panose="020B0502040204020203" pitchFamily="34" charset="-34"/>
                <a:ea typeface="Yu Gothic UI Semibold" panose="020B0700000000000000" pitchFamily="34" charset="-128"/>
                <a:cs typeface="Leelawadee" panose="020B0502040204020203" pitchFamily="34" charset="-34"/>
              </a:rPr>
              <a:t>Hotel Booking Application</a:t>
            </a:r>
          </a:p>
        </p:txBody>
      </p:sp>
      <p:sp>
        <p:nvSpPr>
          <p:cNvPr id="56" name="TextBox 55">
            <a:extLst>
              <a:ext uri="{FF2B5EF4-FFF2-40B4-BE49-F238E27FC236}">
                <a16:creationId xmlns:a16="http://schemas.microsoft.com/office/drawing/2014/main" id="{2A27C017-9AE6-4740-8DF2-EE19751D5EC7}"/>
              </a:ext>
            </a:extLst>
          </p:cNvPr>
          <p:cNvSpPr txBox="1"/>
          <p:nvPr/>
        </p:nvSpPr>
        <p:spPr>
          <a:xfrm>
            <a:off x="6359770" y="6150316"/>
            <a:ext cx="6972993" cy="461665"/>
          </a:xfrm>
          <a:prstGeom prst="rect">
            <a:avLst/>
          </a:prstGeom>
          <a:noFill/>
        </p:spPr>
        <p:txBody>
          <a:bodyPr wrap="square">
            <a:spAutoFit/>
          </a:bodyPr>
          <a:lstStyle/>
          <a:p>
            <a:pPr lvl="0" algn="ctr"/>
            <a:r>
              <a:rPr lang="en-IN" sz="2400" b="1" dirty="0">
                <a:solidFill>
                  <a:schemeClr val="accent1">
                    <a:lumMod val="75000"/>
                  </a:schemeClr>
                </a:solidFill>
                <a:latin typeface="+mj-lt"/>
                <a:ea typeface="Yu Gothic UI Semibold" panose="020B0700000000000000" pitchFamily="34" charset="-128"/>
                <a:cs typeface="Times New Roman" panose="02020603050405020304" pitchFamily="18" charset="0"/>
              </a:rPr>
              <a:t>Presented By:- Milin Rao Deshmukh</a:t>
            </a:r>
          </a:p>
        </p:txBody>
      </p:sp>
      <p:pic>
        <p:nvPicPr>
          <p:cNvPr id="3" name="Picture 2">
            <a:extLst>
              <a:ext uri="{FF2B5EF4-FFF2-40B4-BE49-F238E27FC236}">
                <a16:creationId xmlns:a16="http://schemas.microsoft.com/office/drawing/2014/main" id="{DA5A9CB8-AA0C-4A3F-9C27-DA62706DF5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914" y="-1999580"/>
            <a:ext cx="9830634" cy="10346743"/>
          </a:xfrm>
          <a:prstGeom prst="rect">
            <a:avLst/>
          </a:prstGeom>
        </p:spPr>
      </p:pic>
      <p:pic>
        <p:nvPicPr>
          <p:cNvPr id="11" name="Google Shape;55;p1" descr="A blue and black logo&#10;&#10;Description automatically generated">
            <a:extLst>
              <a:ext uri="{FF2B5EF4-FFF2-40B4-BE49-F238E27FC236}">
                <a16:creationId xmlns:a16="http://schemas.microsoft.com/office/drawing/2014/main" id="{0C627801-5BFB-44DA-8C93-81F6B3147D45}"/>
              </a:ext>
            </a:extLst>
          </p:cNvPr>
          <p:cNvPicPr preferRelativeResize="0"/>
          <p:nvPr/>
        </p:nvPicPr>
        <p:blipFill rotWithShape="1">
          <a:blip r:embed="rId3">
            <a:alphaModFix/>
          </a:blip>
          <a:srcRect/>
          <a:stretch/>
        </p:blipFill>
        <p:spPr>
          <a:xfrm>
            <a:off x="2979734" y="3738313"/>
            <a:ext cx="1673290" cy="1667065"/>
          </a:xfrm>
          <a:prstGeom prst="rect">
            <a:avLst/>
          </a:prstGeom>
          <a:noFill/>
          <a:ln w="127000" cap="sq" cmpd="sng">
            <a:noFill/>
            <a:prstDash val="solid"/>
            <a:miter lim="800000"/>
            <a:headEnd type="none" w="sm" len="sm"/>
            <a:tailEnd type="none" w="sm" len="sm"/>
          </a:ln>
          <a:effectLst>
            <a:outerShdw blurRad="57150" dist="50800" dir="2700000" algn="tl" rotWithShape="0">
              <a:srgbClr val="000000">
                <a:alpha val="40000"/>
              </a:srgbClr>
            </a:outerShdw>
          </a:effectLst>
        </p:spPr>
      </p:pic>
      <p:pic>
        <p:nvPicPr>
          <p:cNvPr id="4" name="Picture 3">
            <a:extLst>
              <a:ext uri="{FF2B5EF4-FFF2-40B4-BE49-F238E27FC236}">
                <a16:creationId xmlns:a16="http://schemas.microsoft.com/office/drawing/2014/main" id="{F6CD2056-456C-43F7-895E-BCF89946D963}"/>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29758" y1="64410" x2="29758" y2="64410"/>
                        <a14:foregroundMark x1="47734" y1="50655" x2="47734" y2="50655"/>
                        <a14:foregroundMark x1="50151" y1="48690" x2="50151" y2="48690"/>
                        <a14:foregroundMark x1="50906" y1="41921" x2="50906" y2="41921"/>
                        <a14:foregroundMark x1="54683" y1="50655" x2="54683" y2="50655"/>
                        <a14:foregroundMark x1="61329" y1="48253" x2="61329" y2="48253"/>
                        <a14:foregroundMark x1="76435" y1="47817" x2="76435" y2="47817"/>
                        <a14:foregroundMark x1="85650" y1="47380" x2="85650" y2="47380"/>
                      </a14:backgroundRemoval>
                    </a14:imgEffect>
                  </a14:imgLayer>
                </a14:imgProps>
              </a:ext>
            </a:extLst>
          </a:blip>
          <a:stretch>
            <a:fillRect/>
          </a:stretch>
        </p:blipFill>
        <p:spPr>
          <a:xfrm>
            <a:off x="3234608" y="3220091"/>
            <a:ext cx="1140625" cy="789133"/>
          </a:xfrm>
          <a:prstGeom prst="rect">
            <a:avLst/>
          </a:prstGeom>
        </p:spPr>
      </p:pic>
    </p:spTree>
    <p:extLst>
      <p:ext uri="{BB962C8B-B14F-4D97-AF65-F5344CB8AC3E}">
        <p14:creationId xmlns:p14="http://schemas.microsoft.com/office/powerpoint/2010/main" val="3782077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583160"/>
            <a:ext cx="359268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Agenda</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806599" y="1937148"/>
            <a:ext cx="10714842" cy="3416320"/>
          </a:xfrm>
          <a:prstGeom prst="rect">
            <a:avLst/>
          </a:prstGeom>
          <a:noFill/>
        </p:spPr>
        <p:txBody>
          <a:bodyPr wrap="square">
            <a:spAutoFit/>
          </a:bodyPr>
          <a:lstStyle/>
          <a:p>
            <a:pPr lvl="0" algn="just"/>
            <a:r>
              <a:rPr lang="en-GB" sz="2400" dirty="0"/>
              <a:t>We begin with a brief introduction and the purpose behind analyzing hotel booking data. We then describe the dataset and tools used, followed by the key steps in data cleaning and feature engineering. The core of the analysis focuses on exploratory data analysis (EDA), uncovering trends in booking </a:t>
            </a:r>
            <a:r>
              <a:rPr lang="en-GB" sz="2400" dirty="0" err="1"/>
              <a:t>behavior</a:t>
            </a:r>
            <a:r>
              <a:rPr lang="en-GB" sz="2400" dirty="0"/>
              <a:t>, cancellations, and guest segmentation. We further </a:t>
            </a:r>
            <a:r>
              <a:rPr lang="en-GB" sz="2400" dirty="0" err="1"/>
              <a:t>analyze</a:t>
            </a:r>
            <a:r>
              <a:rPr lang="en-GB" sz="2400" dirty="0"/>
              <a:t> cancellation patterns, guest types, and market segments to identify meaningful insights. Based on these findings, we provide actionable recommendations aimed at reducing cancellations and improving revenue. The presentation concludes with a summary of key takeaways and suggestions for future improvements. </a:t>
            </a:r>
            <a:endParaRPr lang="en-IN" sz="2400" b="1"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4" name="Group 3">
            <a:extLst>
              <a:ext uri="{FF2B5EF4-FFF2-40B4-BE49-F238E27FC236}">
                <a16:creationId xmlns:a16="http://schemas.microsoft.com/office/drawing/2014/main" id="{0C73095D-962F-4DC6-BFBB-9BCC4912CD0F}"/>
              </a:ext>
            </a:extLst>
          </p:cNvPr>
          <p:cNvGrpSpPr/>
          <p:nvPr/>
        </p:nvGrpSpPr>
        <p:grpSpPr>
          <a:xfrm>
            <a:off x="73160" y="5353468"/>
            <a:ext cx="12118840" cy="1458084"/>
            <a:chOff x="73160" y="5353468"/>
            <a:chExt cx="12118840" cy="1458084"/>
          </a:xfrm>
        </p:grpSpPr>
        <p:cxnSp>
          <p:nvCxnSpPr>
            <p:cNvPr id="57" name="Straight Connector 56">
              <a:extLst>
                <a:ext uri="{FF2B5EF4-FFF2-40B4-BE49-F238E27FC236}">
                  <a16:creationId xmlns:a16="http://schemas.microsoft.com/office/drawing/2014/main" id="{E2C3978A-93B0-47BB-A20B-B83A506E4682}"/>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9" name="Picture 8">
              <a:extLst>
                <a:ext uri="{FF2B5EF4-FFF2-40B4-BE49-F238E27FC236}">
                  <a16:creationId xmlns:a16="http://schemas.microsoft.com/office/drawing/2014/main" id="{F7C1751F-1D87-4730-B361-71C12866327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Tree>
    <p:extLst>
      <p:ext uri="{BB962C8B-B14F-4D97-AF65-F5344CB8AC3E}">
        <p14:creationId xmlns:p14="http://schemas.microsoft.com/office/powerpoint/2010/main" val="1482024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571574"/>
            <a:ext cx="5943825"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Problem Statement</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5" name="Rectangle 2">
            <a:extLst>
              <a:ext uri="{FF2B5EF4-FFF2-40B4-BE49-F238E27FC236}">
                <a16:creationId xmlns:a16="http://schemas.microsoft.com/office/drawing/2014/main" id="{0C35EF98-33A4-4E16-BEAA-255E436FDE75}"/>
              </a:ext>
            </a:extLst>
          </p:cNvPr>
          <p:cNvSpPr>
            <a:spLocks noChangeArrowheads="1"/>
          </p:cNvSpPr>
          <p:nvPr/>
        </p:nvSpPr>
        <p:spPr bwMode="auto">
          <a:xfrm>
            <a:off x="806599" y="2041452"/>
            <a:ext cx="10282516" cy="3174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2400" dirty="0"/>
              <a:t>The hotel industry faces constant challenges like </a:t>
            </a:r>
            <a:r>
              <a:rPr lang="en-GB" sz="2400" b="1" dirty="0"/>
              <a:t>high cancellations</a:t>
            </a:r>
            <a:r>
              <a:rPr lang="en-GB" sz="2400" dirty="0"/>
              <a:t>, fluctuating guest behaviour, and potential revenue loss.</a:t>
            </a:r>
          </a:p>
          <a:p>
            <a:br>
              <a:rPr lang="en-GB" sz="2400" dirty="0"/>
            </a:br>
            <a:r>
              <a:rPr lang="en-GB" sz="2400" dirty="0"/>
              <a:t>To improve revenue and reduce losses, it’s important to understand:-</a:t>
            </a:r>
          </a:p>
          <a:p>
            <a:pPr>
              <a:lnSpc>
                <a:spcPct val="150000"/>
              </a:lnSpc>
              <a:buFont typeface="Arial" panose="020B0604020202020204" pitchFamily="34" charset="0"/>
              <a:buChar char="•"/>
            </a:pPr>
            <a:r>
              <a:rPr lang="en-GB" sz="2400" dirty="0"/>
              <a:t>Why people cancel</a:t>
            </a:r>
          </a:p>
          <a:p>
            <a:pPr>
              <a:lnSpc>
                <a:spcPct val="150000"/>
              </a:lnSpc>
              <a:buFont typeface="Arial" panose="020B0604020202020204" pitchFamily="34" charset="0"/>
              <a:buChar char="•"/>
            </a:pPr>
            <a:r>
              <a:rPr lang="en-GB" sz="2400" dirty="0"/>
              <a:t>How guest types affect bookings</a:t>
            </a:r>
          </a:p>
          <a:p>
            <a:pPr>
              <a:lnSpc>
                <a:spcPct val="150000"/>
              </a:lnSpc>
              <a:buFont typeface="Arial" panose="020B0604020202020204" pitchFamily="34" charset="0"/>
              <a:buChar char="•"/>
            </a:pPr>
            <a:r>
              <a:rPr lang="en-GB" sz="2400" dirty="0"/>
              <a:t>What trends can guide better planning</a:t>
            </a:r>
          </a:p>
        </p:txBody>
      </p:sp>
      <p:grpSp>
        <p:nvGrpSpPr>
          <p:cNvPr id="9" name="Group 8">
            <a:extLst>
              <a:ext uri="{FF2B5EF4-FFF2-40B4-BE49-F238E27FC236}">
                <a16:creationId xmlns:a16="http://schemas.microsoft.com/office/drawing/2014/main" id="{1AC87EEB-161D-4938-8AE5-7F15799DD20B}"/>
              </a:ext>
            </a:extLst>
          </p:cNvPr>
          <p:cNvGrpSpPr/>
          <p:nvPr/>
        </p:nvGrpSpPr>
        <p:grpSpPr>
          <a:xfrm>
            <a:off x="73160" y="5353468"/>
            <a:ext cx="12118840" cy="1458084"/>
            <a:chOff x="73160" y="5353468"/>
            <a:chExt cx="12118840" cy="1458084"/>
          </a:xfrm>
        </p:grpSpPr>
        <p:cxnSp>
          <p:nvCxnSpPr>
            <p:cNvPr id="10" name="Straight Connector 9">
              <a:extLst>
                <a:ext uri="{FF2B5EF4-FFF2-40B4-BE49-F238E27FC236}">
                  <a16:creationId xmlns:a16="http://schemas.microsoft.com/office/drawing/2014/main" id="{DDB1D1EA-2294-488A-88A6-4EAC234A866B}"/>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1" name="Picture 10">
              <a:extLst>
                <a:ext uri="{FF2B5EF4-FFF2-40B4-BE49-F238E27FC236}">
                  <a16:creationId xmlns:a16="http://schemas.microsoft.com/office/drawing/2014/main" id="{5140C69E-3E63-41D6-9F1C-428AD50F5A1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Tree>
    <p:extLst>
      <p:ext uri="{BB962C8B-B14F-4D97-AF65-F5344CB8AC3E}">
        <p14:creationId xmlns:p14="http://schemas.microsoft.com/office/powerpoint/2010/main" val="297083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571574"/>
            <a:ext cx="5943825"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Objective &amp; Scope</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1AC87EEB-161D-4938-8AE5-7F15799DD20B}"/>
              </a:ext>
            </a:extLst>
          </p:cNvPr>
          <p:cNvGrpSpPr/>
          <p:nvPr/>
        </p:nvGrpSpPr>
        <p:grpSpPr>
          <a:xfrm>
            <a:off x="73160" y="5353468"/>
            <a:ext cx="12118840" cy="1458084"/>
            <a:chOff x="73160" y="5353468"/>
            <a:chExt cx="12118840" cy="1458084"/>
          </a:xfrm>
        </p:grpSpPr>
        <p:cxnSp>
          <p:nvCxnSpPr>
            <p:cNvPr id="10" name="Straight Connector 9">
              <a:extLst>
                <a:ext uri="{FF2B5EF4-FFF2-40B4-BE49-F238E27FC236}">
                  <a16:creationId xmlns:a16="http://schemas.microsoft.com/office/drawing/2014/main" id="{DDB1D1EA-2294-488A-88A6-4EAC234A866B}"/>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1" name="Picture 10">
              <a:extLst>
                <a:ext uri="{FF2B5EF4-FFF2-40B4-BE49-F238E27FC236}">
                  <a16:creationId xmlns:a16="http://schemas.microsoft.com/office/drawing/2014/main" id="{5140C69E-3E63-41D6-9F1C-428AD50F5A1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3" name="Rectangle 2">
            <a:extLst>
              <a:ext uri="{FF2B5EF4-FFF2-40B4-BE49-F238E27FC236}">
                <a16:creationId xmlns:a16="http://schemas.microsoft.com/office/drawing/2014/main" id="{87A2478D-FDA3-4217-A038-8FDB865D5E81}"/>
              </a:ext>
            </a:extLst>
          </p:cNvPr>
          <p:cNvSpPr>
            <a:spLocks noChangeArrowheads="1"/>
          </p:cNvSpPr>
          <p:nvPr/>
        </p:nvSpPr>
        <p:spPr bwMode="auto">
          <a:xfrm>
            <a:off x="761104" y="1937148"/>
            <a:ext cx="1197864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2400" b="1" dirty="0"/>
              <a:t>Objective</a:t>
            </a:r>
            <a:r>
              <a:rPr lang="en-GB" sz="2400" dirty="0"/>
              <a:t>:</a:t>
            </a:r>
            <a:br>
              <a:rPr lang="en-GB" sz="2400" dirty="0"/>
            </a:br>
            <a:r>
              <a:rPr lang="en-GB" sz="2400" dirty="0"/>
              <a:t>Use data analysis to uncover patterns in hotel bookings and recommend actions to reduce cancellations and optimize bookings.</a:t>
            </a:r>
          </a:p>
          <a:p>
            <a:endParaRPr lang="en-GB" sz="2400" dirty="0"/>
          </a:p>
          <a:p>
            <a:r>
              <a:rPr lang="en-GB" sz="2400" b="1" dirty="0"/>
              <a:t>Scope Includes</a:t>
            </a:r>
            <a:r>
              <a:rPr lang="en-GB" sz="2400" dirty="0"/>
              <a:t>:</a:t>
            </a:r>
          </a:p>
          <a:p>
            <a:pPr>
              <a:buFont typeface="Arial" panose="020B0604020202020204" pitchFamily="34" charset="0"/>
              <a:buChar char="•"/>
            </a:pPr>
            <a:r>
              <a:rPr lang="en-GB" sz="2400" dirty="0"/>
              <a:t>Guest demographics and booking types</a:t>
            </a:r>
          </a:p>
          <a:p>
            <a:pPr>
              <a:buFont typeface="Arial" panose="020B0604020202020204" pitchFamily="34" charset="0"/>
              <a:buChar char="•"/>
            </a:pPr>
            <a:r>
              <a:rPr lang="en-GB" sz="2400" dirty="0"/>
              <a:t>Cancellations and lead times</a:t>
            </a:r>
          </a:p>
          <a:p>
            <a:pPr>
              <a:buFont typeface="Arial" panose="020B0604020202020204" pitchFamily="34" charset="0"/>
              <a:buChar char="•"/>
            </a:pPr>
            <a:r>
              <a:rPr lang="en-GB" sz="2400" dirty="0"/>
              <a:t>Seasonal, </a:t>
            </a:r>
            <a:r>
              <a:rPr lang="en-GB" sz="2400" dirty="0" err="1"/>
              <a:t>behavioral</a:t>
            </a:r>
            <a:r>
              <a:rPr lang="en-GB" sz="2400" dirty="0"/>
              <a:t>, and financial trends</a:t>
            </a:r>
          </a:p>
          <a:p>
            <a:pPr>
              <a:buFont typeface="Arial" panose="020B0604020202020204" pitchFamily="34" charset="0"/>
              <a:buChar char="•"/>
            </a:pPr>
            <a:r>
              <a:rPr lang="en-GB" sz="2400" dirty="0"/>
              <a:t>Booking channels and country-wise </a:t>
            </a:r>
            <a:r>
              <a:rPr lang="en-GB" sz="2400" dirty="0" err="1"/>
              <a:t>behavior</a:t>
            </a:r>
            <a:endParaRPr lang="en-GB" sz="2400" dirty="0"/>
          </a:p>
        </p:txBody>
      </p:sp>
    </p:spTree>
    <p:extLst>
      <p:ext uri="{BB962C8B-B14F-4D97-AF65-F5344CB8AC3E}">
        <p14:creationId xmlns:p14="http://schemas.microsoft.com/office/powerpoint/2010/main" val="1913522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571574"/>
            <a:ext cx="5943825"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Data Overview</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1AC87EEB-161D-4938-8AE5-7F15799DD20B}"/>
              </a:ext>
            </a:extLst>
          </p:cNvPr>
          <p:cNvGrpSpPr/>
          <p:nvPr/>
        </p:nvGrpSpPr>
        <p:grpSpPr>
          <a:xfrm>
            <a:off x="73160" y="5353468"/>
            <a:ext cx="12118840" cy="1458084"/>
            <a:chOff x="73160" y="5353468"/>
            <a:chExt cx="12118840" cy="1458084"/>
          </a:xfrm>
        </p:grpSpPr>
        <p:cxnSp>
          <p:nvCxnSpPr>
            <p:cNvPr id="10" name="Straight Connector 9">
              <a:extLst>
                <a:ext uri="{FF2B5EF4-FFF2-40B4-BE49-F238E27FC236}">
                  <a16:creationId xmlns:a16="http://schemas.microsoft.com/office/drawing/2014/main" id="{DDB1D1EA-2294-488A-88A6-4EAC234A866B}"/>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1" name="Picture 10">
              <a:extLst>
                <a:ext uri="{FF2B5EF4-FFF2-40B4-BE49-F238E27FC236}">
                  <a16:creationId xmlns:a16="http://schemas.microsoft.com/office/drawing/2014/main" id="{5140C69E-3E63-41D6-9F1C-428AD50F5A1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4" name="Rectangle 2">
            <a:extLst>
              <a:ext uri="{FF2B5EF4-FFF2-40B4-BE49-F238E27FC236}">
                <a16:creationId xmlns:a16="http://schemas.microsoft.com/office/drawing/2014/main" id="{BA17CB98-19D6-4C4D-8E93-32DEF4EC2C60}"/>
              </a:ext>
            </a:extLst>
          </p:cNvPr>
          <p:cNvSpPr>
            <a:spLocks noChangeArrowheads="1"/>
          </p:cNvSpPr>
          <p:nvPr/>
        </p:nvSpPr>
        <p:spPr bwMode="auto">
          <a:xfrm>
            <a:off x="916440" y="1841152"/>
            <a:ext cx="12118840" cy="280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Source</a:t>
            </a:r>
            <a:r>
              <a:rPr kumimoji="0" lang="en-US" altLang="en-US" sz="2400" b="0" i="0" u="none" strike="noStrike" cap="none" normalizeH="0" baseline="0" dirty="0">
                <a:ln>
                  <a:noFill/>
                </a:ln>
                <a:solidFill>
                  <a:schemeClr val="tx1"/>
                </a:solidFill>
                <a:effectLst/>
              </a:rPr>
              <a:t>: Hotel Booking Dataset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Size</a:t>
            </a:r>
            <a:r>
              <a:rPr kumimoji="0" lang="en-US" altLang="en-US" sz="2400" b="0" i="0" u="none" strike="noStrike" cap="none" normalizeH="0" baseline="0" dirty="0">
                <a:ln>
                  <a:noFill/>
                </a:ln>
                <a:solidFill>
                  <a:schemeClr val="tx1"/>
                </a:solidFill>
                <a:effectLst/>
              </a:rPr>
              <a:t>: 119,390 rows × 32 columns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Hotel Types</a:t>
            </a:r>
            <a:r>
              <a:rPr kumimoji="0" lang="en-US" altLang="en-US" sz="2400" b="0" i="0" u="none" strike="noStrike" cap="none" normalizeH="0" baseline="0" dirty="0">
                <a:ln>
                  <a:noFill/>
                </a:ln>
                <a:solidFill>
                  <a:schemeClr val="tx1"/>
                </a:solidFill>
                <a:effectLst/>
              </a:rPr>
              <a:t>: City Hotel &amp; Resort Hotel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Duration</a:t>
            </a:r>
            <a:r>
              <a:rPr kumimoji="0" lang="en-US" altLang="en-US" sz="2400" b="0" i="0" u="none" strike="noStrike" cap="none" normalizeH="0" baseline="0" dirty="0">
                <a:ln>
                  <a:noFill/>
                </a:ln>
                <a:solidFill>
                  <a:schemeClr val="tx1"/>
                </a:solidFill>
                <a:effectLst/>
              </a:rPr>
              <a:t>: Data spans over 2+ years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Tools Used</a:t>
            </a:r>
            <a:r>
              <a:rPr kumimoji="0" lang="en-US" altLang="en-US" sz="2400" b="0" i="0" u="none" strike="noStrike" cap="none" normalizeH="0" baseline="0" dirty="0">
                <a:ln>
                  <a:noFill/>
                </a:ln>
                <a:solidFill>
                  <a:schemeClr val="tx1"/>
                </a:solidFill>
                <a:effectLst/>
              </a:rPr>
              <a:t>: Python (Pandas, NumPy, Matplotlib, Seaborn)</a:t>
            </a:r>
          </a:p>
        </p:txBody>
      </p:sp>
    </p:spTree>
    <p:extLst>
      <p:ext uri="{BB962C8B-B14F-4D97-AF65-F5344CB8AC3E}">
        <p14:creationId xmlns:p14="http://schemas.microsoft.com/office/powerpoint/2010/main" val="3336513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Data Cleaning &amp; Feature Engineering</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4" name="Rectangle 1">
            <a:extLst>
              <a:ext uri="{FF2B5EF4-FFF2-40B4-BE49-F238E27FC236}">
                <a16:creationId xmlns:a16="http://schemas.microsoft.com/office/drawing/2014/main" id="{D5F44B0D-CD7A-461D-BAF0-C1D8D5CB5C47}"/>
              </a:ext>
            </a:extLst>
          </p:cNvPr>
          <p:cNvSpPr>
            <a:spLocks noChangeArrowheads="1"/>
          </p:cNvSpPr>
          <p:nvPr/>
        </p:nvSpPr>
        <p:spPr bwMode="auto">
          <a:xfrm>
            <a:off x="806599" y="1934701"/>
            <a:ext cx="12118840" cy="280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Handled missing values (e.g., children, country)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Removed duplicates (~900 rows)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Created new features: </a:t>
            </a:r>
            <a:r>
              <a:rPr kumimoji="0" lang="en-US" altLang="en-US" sz="2400" b="0" i="0" u="none" strike="noStrike" cap="none" normalizeH="0" baseline="0" dirty="0" err="1">
                <a:ln>
                  <a:noFill/>
                </a:ln>
                <a:solidFill>
                  <a:schemeClr val="tx1"/>
                </a:solidFill>
                <a:effectLst/>
              </a:rPr>
              <a:t>stay_length</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total_guests</a:t>
            </a:r>
            <a:r>
              <a:rPr kumimoji="0" lang="en-US" altLang="en-US" sz="2400" b="0" i="0" u="none" strike="noStrike" cap="none" normalizeH="0" baseline="0" dirty="0">
                <a:ln>
                  <a:noFill/>
                </a:ln>
                <a:solidFill>
                  <a:schemeClr val="tx1"/>
                </a:solidFill>
                <a:effectLst/>
              </a:rPr>
              <a:t>, </a:t>
            </a:r>
            <a:r>
              <a:rPr kumimoji="0" lang="en-US" altLang="en-US" sz="2400" b="0" i="0" u="none" strike="noStrike" cap="none" normalizeH="0" baseline="0" dirty="0" err="1">
                <a:ln>
                  <a:noFill/>
                </a:ln>
                <a:solidFill>
                  <a:schemeClr val="tx1"/>
                </a:solidFill>
                <a:effectLst/>
              </a:rPr>
              <a:t>year_month</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Converted data types for datetime fields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Segmented guests as domestic/international</a:t>
            </a:r>
          </a:p>
        </p:txBody>
      </p:sp>
    </p:spTree>
    <p:extLst>
      <p:ext uri="{BB962C8B-B14F-4D97-AF65-F5344CB8AC3E}">
        <p14:creationId xmlns:p14="http://schemas.microsoft.com/office/powerpoint/2010/main" val="3935110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Customer &amp; Booking Profile</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06598" y="1975809"/>
            <a:ext cx="9554697" cy="2251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cs typeface="Arial" panose="020B0604020202020204" pitchFamily="34" charset="0"/>
              </a:rPr>
              <a:t>~60% bookings are from </a:t>
            </a:r>
            <a:r>
              <a:rPr kumimoji="0" lang="en-US" altLang="en-US" sz="2400" b="1" i="0" u="none" strike="noStrike" cap="none" normalizeH="0" baseline="0" dirty="0">
                <a:ln>
                  <a:noFill/>
                </a:ln>
                <a:solidFill>
                  <a:schemeClr val="tx1"/>
                </a:solidFill>
                <a:effectLst/>
                <a:cs typeface="Arial" panose="020B0604020202020204" pitchFamily="34" charset="0"/>
              </a:rPr>
              <a:t>City Hotel</a:t>
            </a:r>
            <a:endParaRPr kumimoji="0" lang="en-US" altLang="en-US" sz="24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cs typeface="Arial" panose="020B0604020202020204" pitchFamily="34" charset="0"/>
              </a:rPr>
              <a:t>Majority are </a:t>
            </a:r>
            <a:r>
              <a:rPr kumimoji="0" lang="en-US" altLang="en-US" sz="2400" b="1" i="0" u="none" strike="noStrike" cap="none" normalizeH="0" baseline="0" dirty="0">
                <a:ln>
                  <a:noFill/>
                </a:ln>
                <a:solidFill>
                  <a:schemeClr val="tx1"/>
                </a:solidFill>
                <a:effectLst/>
                <a:cs typeface="Arial" panose="020B0604020202020204" pitchFamily="34" charset="0"/>
              </a:rPr>
              <a:t>Transient</a:t>
            </a:r>
            <a:r>
              <a:rPr kumimoji="0" lang="en-US" altLang="en-US" sz="2400" b="0" i="0" u="none" strike="noStrike" cap="none" normalizeH="0" baseline="0" dirty="0">
                <a:ln>
                  <a:noFill/>
                </a:ln>
                <a:solidFill>
                  <a:schemeClr val="tx1"/>
                </a:solidFill>
                <a:effectLst/>
                <a:cs typeface="Arial" panose="020B0604020202020204" pitchFamily="34" charset="0"/>
              </a:rPr>
              <a:t> guests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cs typeface="Arial" panose="020B0604020202020204" pitchFamily="34" charset="0"/>
              </a:rPr>
              <a:t>~25% of bookings have at least one </a:t>
            </a:r>
            <a:r>
              <a:rPr kumimoji="0" lang="en-US" altLang="en-US" sz="2400" b="1" i="0" u="none" strike="noStrike" cap="none" normalizeH="0" baseline="0" dirty="0">
                <a:ln>
                  <a:noFill/>
                </a:ln>
                <a:solidFill>
                  <a:schemeClr val="tx1"/>
                </a:solidFill>
                <a:effectLst/>
                <a:cs typeface="Arial" panose="020B0604020202020204" pitchFamily="34" charset="0"/>
              </a:rPr>
              <a:t>special request</a:t>
            </a:r>
            <a:endParaRPr kumimoji="0" lang="en-US" altLang="en-US" sz="24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cs typeface="Arial" panose="020B0604020202020204" pitchFamily="34" charset="0"/>
              </a:rPr>
              <a:t>Domestic guests cancel more frequently</a:t>
            </a:r>
            <a:r>
              <a:rPr kumimoji="0" lang="en-US" altLang="en-US" sz="2400" b="0" i="0" u="none" strike="noStrike" cap="none" normalizeH="0" baseline="0" dirty="0">
                <a:ln>
                  <a:noFill/>
                </a:ln>
                <a:solidFill>
                  <a:schemeClr val="tx1"/>
                </a:solidFill>
                <a:effectLst/>
                <a:cs typeface="Arial" panose="020B0604020202020204" pitchFamily="34" charset="0"/>
              </a:rPr>
              <a:t> than international guests</a:t>
            </a:r>
          </a:p>
        </p:txBody>
      </p:sp>
    </p:spTree>
    <p:extLst>
      <p:ext uri="{BB962C8B-B14F-4D97-AF65-F5344CB8AC3E}">
        <p14:creationId xmlns:p14="http://schemas.microsoft.com/office/powerpoint/2010/main" val="1116576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Hotel Type Analysis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06598" y="5113967"/>
            <a:ext cx="9554697"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GB" altLang="en-US" sz="2400" b="0" i="0" u="none" strike="noStrike" cap="none" normalizeH="0" baseline="0" dirty="0">
                <a:ln>
                  <a:noFill/>
                </a:ln>
                <a:solidFill>
                  <a:schemeClr val="tx1"/>
                </a:solidFill>
                <a:effectLst/>
                <a:cs typeface="Arial" panose="020B0604020202020204" pitchFamily="34" charset="0"/>
              </a:rPr>
              <a:t>Insight: City Hotels earn more per booking but face higher cancellation risk</a:t>
            </a:r>
            <a:endParaRPr kumimoji="0" lang="en-US" altLang="en-US" sz="2400" b="0" i="0" u="none" strike="noStrike" cap="none" normalizeH="0" baseline="0" dirty="0">
              <a:ln>
                <a:noFill/>
              </a:ln>
              <a:solidFill>
                <a:schemeClr val="tx1"/>
              </a:solidFill>
              <a:effectLst/>
              <a:cs typeface="Arial" panose="020B0604020202020204" pitchFamily="34" charset="0"/>
            </a:endParaRPr>
          </a:p>
        </p:txBody>
      </p:sp>
      <p:graphicFrame>
        <p:nvGraphicFramePr>
          <p:cNvPr id="3" name="Table 2">
            <a:extLst>
              <a:ext uri="{FF2B5EF4-FFF2-40B4-BE49-F238E27FC236}">
                <a16:creationId xmlns:a16="http://schemas.microsoft.com/office/drawing/2014/main" id="{D65A34C0-48FC-40F8-9CAC-64BE460DDBD9}"/>
              </a:ext>
            </a:extLst>
          </p:cNvPr>
          <p:cNvGraphicFramePr>
            <a:graphicFrameLocks noGrp="1"/>
          </p:cNvGraphicFramePr>
          <p:nvPr>
            <p:extLst>
              <p:ext uri="{D42A27DB-BD31-4B8C-83A1-F6EECF244321}">
                <p14:modId xmlns:p14="http://schemas.microsoft.com/office/powerpoint/2010/main" val="2251213052"/>
              </p:ext>
            </p:extLst>
          </p:nvPr>
        </p:nvGraphicFramePr>
        <p:xfrm>
          <a:off x="838201" y="2082800"/>
          <a:ext cx="5166360" cy="2225040"/>
        </p:xfrm>
        <a:graphic>
          <a:graphicData uri="http://schemas.openxmlformats.org/drawingml/2006/table">
            <a:tbl>
              <a:tblPr>
                <a:tableStyleId>{073A0DAA-6AF3-43AB-8588-CEC1D06C72B9}</a:tableStyleId>
              </a:tblPr>
              <a:tblGrid>
                <a:gridCol w="1722120">
                  <a:extLst>
                    <a:ext uri="{9D8B030D-6E8A-4147-A177-3AD203B41FA5}">
                      <a16:colId xmlns:a16="http://schemas.microsoft.com/office/drawing/2014/main" val="2745695698"/>
                    </a:ext>
                  </a:extLst>
                </a:gridCol>
                <a:gridCol w="1722120">
                  <a:extLst>
                    <a:ext uri="{9D8B030D-6E8A-4147-A177-3AD203B41FA5}">
                      <a16:colId xmlns:a16="http://schemas.microsoft.com/office/drawing/2014/main" val="3933237900"/>
                    </a:ext>
                  </a:extLst>
                </a:gridCol>
                <a:gridCol w="1722120">
                  <a:extLst>
                    <a:ext uri="{9D8B030D-6E8A-4147-A177-3AD203B41FA5}">
                      <a16:colId xmlns:a16="http://schemas.microsoft.com/office/drawing/2014/main" val="4130728011"/>
                    </a:ext>
                  </a:extLst>
                </a:gridCol>
              </a:tblGrid>
              <a:tr h="741680">
                <a:tc>
                  <a:txBody>
                    <a:bodyPr/>
                    <a:lstStyle/>
                    <a:p>
                      <a:r>
                        <a:rPr lang="en-IN" b="1" u="sng" dirty="0"/>
                        <a:t>Hotel Type</a:t>
                      </a:r>
                    </a:p>
                  </a:txBody>
                  <a:tcPr anchor="ctr"/>
                </a:tc>
                <a:tc>
                  <a:txBody>
                    <a:bodyPr/>
                    <a:lstStyle/>
                    <a:p>
                      <a:r>
                        <a:rPr lang="en-IN" b="1" u="sng" dirty="0"/>
                        <a:t>Cancellation Rate</a:t>
                      </a:r>
                    </a:p>
                  </a:txBody>
                  <a:tcPr anchor="ctr"/>
                </a:tc>
                <a:tc>
                  <a:txBody>
                    <a:bodyPr/>
                    <a:lstStyle/>
                    <a:p>
                      <a:r>
                        <a:rPr lang="en-IN" b="1" u="sng" dirty="0"/>
                        <a:t>ADR (Average Daily Rate)</a:t>
                      </a:r>
                    </a:p>
                  </a:txBody>
                  <a:tcPr anchor="ctr"/>
                </a:tc>
                <a:extLst>
                  <a:ext uri="{0D108BD9-81ED-4DB2-BD59-A6C34878D82A}">
                    <a16:rowId xmlns:a16="http://schemas.microsoft.com/office/drawing/2014/main" val="3144640267"/>
                  </a:ext>
                </a:extLst>
              </a:tr>
              <a:tr h="741680">
                <a:tc>
                  <a:txBody>
                    <a:bodyPr/>
                    <a:lstStyle/>
                    <a:p>
                      <a:r>
                        <a:rPr lang="en-IN"/>
                        <a:t>City Hotel</a:t>
                      </a:r>
                    </a:p>
                  </a:txBody>
                  <a:tcPr anchor="ctr"/>
                </a:tc>
                <a:tc>
                  <a:txBody>
                    <a:bodyPr/>
                    <a:lstStyle/>
                    <a:p>
                      <a:r>
                        <a:rPr lang="en-IN"/>
                        <a:t>Higher</a:t>
                      </a:r>
                    </a:p>
                  </a:txBody>
                  <a:tcPr anchor="ctr"/>
                </a:tc>
                <a:tc>
                  <a:txBody>
                    <a:bodyPr/>
                    <a:lstStyle/>
                    <a:p>
                      <a:r>
                        <a:rPr lang="en-IN" dirty="0"/>
                        <a:t>Higher</a:t>
                      </a:r>
                    </a:p>
                  </a:txBody>
                  <a:tcPr anchor="ctr"/>
                </a:tc>
                <a:extLst>
                  <a:ext uri="{0D108BD9-81ED-4DB2-BD59-A6C34878D82A}">
                    <a16:rowId xmlns:a16="http://schemas.microsoft.com/office/drawing/2014/main" val="2627181037"/>
                  </a:ext>
                </a:extLst>
              </a:tr>
              <a:tr h="741680">
                <a:tc>
                  <a:txBody>
                    <a:bodyPr/>
                    <a:lstStyle/>
                    <a:p>
                      <a:r>
                        <a:rPr lang="en-IN"/>
                        <a:t>Resort Hotel</a:t>
                      </a:r>
                    </a:p>
                  </a:txBody>
                  <a:tcPr anchor="ctr"/>
                </a:tc>
                <a:tc>
                  <a:txBody>
                    <a:bodyPr/>
                    <a:lstStyle/>
                    <a:p>
                      <a:r>
                        <a:rPr lang="en-IN"/>
                        <a:t>Lower</a:t>
                      </a:r>
                    </a:p>
                  </a:txBody>
                  <a:tcPr anchor="ctr"/>
                </a:tc>
                <a:tc>
                  <a:txBody>
                    <a:bodyPr/>
                    <a:lstStyle/>
                    <a:p>
                      <a:r>
                        <a:rPr lang="en-IN" dirty="0"/>
                        <a:t>Lower</a:t>
                      </a:r>
                    </a:p>
                  </a:txBody>
                  <a:tcPr anchor="ctr"/>
                </a:tc>
                <a:extLst>
                  <a:ext uri="{0D108BD9-81ED-4DB2-BD59-A6C34878D82A}">
                    <a16:rowId xmlns:a16="http://schemas.microsoft.com/office/drawing/2014/main" val="1693676355"/>
                  </a:ext>
                </a:extLst>
              </a:tr>
            </a:tbl>
          </a:graphicData>
        </a:graphic>
      </p:graphicFrame>
      <p:pic>
        <p:nvPicPr>
          <p:cNvPr id="8" name="Picture 7">
            <a:extLst>
              <a:ext uri="{FF2B5EF4-FFF2-40B4-BE49-F238E27FC236}">
                <a16:creationId xmlns:a16="http://schemas.microsoft.com/office/drawing/2014/main" id="{053AD353-8F87-4434-AE28-EEC323C0C453}"/>
              </a:ext>
            </a:extLst>
          </p:cNvPr>
          <p:cNvPicPr>
            <a:picLocks noChangeAspect="1"/>
          </p:cNvPicPr>
          <p:nvPr/>
        </p:nvPicPr>
        <p:blipFill>
          <a:blip r:embed="rId4">
            <a:grayscl/>
          </a:blip>
          <a:stretch>
            <a:fillRect/>
          </a:stretch>
        </p:blipFill>
        <p:spPr>
          <a:xfrm>
            <a:off x="6595613" y="1899279"/>
            <a:ext cx="3877822" cy="3199448"/>
          </a:xfrm>
          <a:prstGeom prst="rect">
            <a:avLst/>
          </a:prstGeom>
        </p:spPr>
      </p:pic>
    </p:spTree>
    <p:extLst>
      <p:ext uri="{BB962C8B-B14F-4D97-AF65-F5344CB8AC3E}">
        <p14:creationId xmlns:p14="http://schemas.microsoft.com/office/powerpoint/2010/main" val="2572457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Impact of Deposit Type</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06598" y="4786168"/>
            <a:ext cx="9554697" cy="114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GB" sz="2400" b="1" dirty="0"/>
              <a:t>Insight</a:t>
            </a:r>
            <a:r>
              <a:rPr lang="en-GB" sz="2400" dirty="0"/>
              <a:t>: Non-refundable bookings are not always secure may need stricter policies or verification.</a:t>
            </a:r>
            <a:endParaRPr kumimoji="0" lang="en-US" altLang="en-US" sz="2400" b="0" i="0" u="none" strike="noStrike" cap="none" normalizeH="0" baseline="0" dirty="0">
              <a:ln>
                <a:noFill/>
              </a:ln>
              <a:solidFill>
                <a:schemeClr val="tx1"/>
              </a:solidFill>
              <a:effectLst/>
              <a:cs typeface="Arial" panose="020B0604020202020204" pitchFamily="34" charset="0"/>
            </a:endParaRPr>
          </a:p>
        </p:txBody>
      </p:sp>
      <p:graphicFrame>
        <p:nvGraphicFramePr>
          <p:cNvPr id="4" name="Table 3">
            <a:extLst>
              <a:ext uri="{FF2B5EF4-FFF2-40B4-BE49-F238E27FC236}">
                <a16:creationId xmlns:a16="http://schemas.microsoft.com/office/drawing/2014/main" id="{52EFE059-CFE4-47BA-A045-84B8AD43720C}"/>
              </a:ext>
            </a:extLst>
          </p:cNvPr>
          <p:cNvGraphicFramePr>
            <a:graphicFrameLocks noGrp="1"/>
          </p:cNvGraphicFramePr>
          <p:nvPr>
            <p:extLst>
              <p:ext uri="{D42A27DB-BD31-4B8C-83A1-F6EECF244321}">
                <p14:modId xmlns:p14="http://schemas.microsoft.com/office/powerpoint/2010/main" val="2237211441"/>
              </p:ext>
            </p:extLst>
          </p:nvPr>
        </p:nvGraphicFramePr>
        <p:xfrm>
          <a:off x="806598" y="2125382"/>
          <a:ext cx="9211162" cy="2273900"/>
        </p:xfrm>
        <a:graphic>
          <a:graphicData uri="http://schemas.openxmlformats.org/drawingml/2006/table">
            <a:tbl>
              <a:tblPr>
                <a:tableStyleId>{073A0DAA-6AF3-43AB-8588-CEC1D06C72B9}</a:tableStyleId>
              </a:tblPr>
              <a:tblGrid>
                <a:gridCol w="4605581">
                  <a:extLst>
                    <a:ext uri="{9D8B030D-6E8A-4147-A177-3AD203B41FA5}">
                      <a16:colId xmlns:a16="http://schemas.microsoft.com/office/drawing/2014/main" val="3271939450"/>
                    </a:ext>
                  </a:extLst>
                </a:gridCol>
                <a:gridCol w="4605581">
                  <a:extLst>
                    <a:ext uri="{9D8B030D-6E8A-4147-A177-3AD203B41FA5}">
                      <a16:colId xmlns:a16="http://schemas.microsoft.com/office/drawing/2014/main" val="2367007843"/>
                    </a:ext>
                  </a:extLst>
                </a:gridCol>
              </a:tblGrid>
              <a:tr h="568475">
                <a:tc>
                  <a:txBody>
                    <a:bodyPr/>
                    <a:lstStyle/>
                    <a:p>
                      <a:pPr marL="0" algn="l" defTabSz="914400" rtl="0" eaLnBrk="1" latinLnBrk="0" hangingPunct="1"/>
                      <a:r>
                        <a:rPr lang="en-IN" sz="1800" b="1" u="sng" kern="1200" dirty="0">
                          <a:solidFill>
                            <a:schemeClr val="dk1"/>
                          </a:solidFill>
                        </a:rPr>
                        <a:t>Deposit Type</a:t>
                      </a:r>
                      <a:endParaRPr lang="en-IN" sz="1800" b="1" u="sng" kern="1200" dirty="0">
                        <a:solidFill>
                          <a:schemeClr val="dk1"/>
                        </a:solidFill>
                        <a:latin typeface="+mn-lt"/>
                        <a:ea typeface="+mn-ea"/>
                        <a:cs typeface="+mn-cs"/>
                      </a:endParaRPr>
                    </a:p>
                  </a:txBody>
                  <a:tcPr anchor="ctr"/>
                </a:tc>
                <a:tc>
                  <a:txBody>
                    <a:bodyPr/>
                    <a:lstStyle/>
                    <a:p>
                      <a:pPr marL="0" algn="l" defTabSz="914400" rtl="0" eaLnBrk="1" latinLnBrk="0" hangingPunct="1"/>
                      <a:r>
                        <a:rPr lang="en-IN" sz="1800" b="1" u="sng" kern="1200">
                          <a:solidFill>
                            <a:schemeClr val="dk1"/>
                          </a:solidFill>
                        </a:rPr>
                        <a:t>Cancellation Rate</a:t>
                      </a:r>
                      <a:endParaRPr lang="en-IN" sz="1800" b="1" u="sng" kern="1200">
                        <a:solidFill>
                          <a:schemeClr val="dk1"/>
                        </a:solidFill>
                        <a:latin typeface="+mn-lt"/>
                        <a:ea typeface="+mn-ea"/>
                        <a:cs typeface="+mn-cs"/>
                      </a:endParaRPr>
                    </a:p>
                  </a:txBody>
                  <a:tcPr anchor="ctr"/>
                </a:tc>
                <a:extLst>
                  <a:ext uri="{0D108BD9-81ED-4DB2-BD59-A6C34878D82A}">
                    <a16:rowId xmlns:a16="http://schemas.microsoft.com/office/drawing/2014/main" val="2649044029"/>
                  </a:ext>
                </a:extLst>
              </a:tr>
              <a:tr h="568475">
                <a:tc>
                  <a:txBody>
                    <a:bodyPr/>
                    <a:lstStyle/>
                    <a:p>
                      <a:pPr marL="0" algn="l" defTabSz="914400" rtl="0" eaLnBrk="1" latinLnBrk="0" hangingPunct="1"/>
                      <a:r>
                        <a:rPr lang="en-IN" sz="1800" b="0" u="none" kern="1200" dirty="0">
                          <a:solidFill>
                            <a:schemeClr val="dk1"/>
                          </a:solidFill>
                        </a:rPr>
                        <a:t>No Deposit</a:t>
                      </a:r>
                      <a:endParaRPr lang="en-IN" sz="1800" b="0" u="none" kern="1200" dirty="0">
                        <a:solidFill>
                          <a:schemeClr val="dk1"/>
                        </a:solidFill>
                        <a:latin typeface="+mn-lt"/>
                        <a:ea typeface="+mn-ea"/>
                        <a:cs typeface="+mn-cs"/>
                      </a:endParaRPr>
                    </a:p>
                  </a:txBody>
                  <a:tcPr anchor="ctr"/>
                </a:tc>
                <a:tc>
                  <a:txBody>
                    <a:bodyPr/>
                    <a:lstStyle/>
                    <a:p>
                      <a:pPr marL="0" algn="l" defTabSz="914400" rtl="0" eaLnBrk="1" latinLnBrk="0" hangingPunct="1"/>
                      <a:r>
                        <a:rPr lang="en-IN" sz="1800" b="0" u="none" kern="1200">
                          <a:solidFill>
                            <a:schemeClr val="dk1"/>
                          </a:solidFill>
                        </a:rPr>
                        <a:t>26.7%</a:t>
                      </a:r>
                      <a:endParaRPr lang="en-IN" sz="1800" b="0" u="none" kern="1200">
                        <a:solidFill>
                          <a:schemeClr val="dk1"/>
                        </a:solidFill>
                        <a:latin typeface="+mn-lt"/>
                        <a:ea typeface="+mn-ea"/>
                        <a:cs typeface="+mn-cs"/>
                      </a:endParaRPr>
                    </a:p>
                  </a:txBody>
                  <a:tcPr anchor="ctr"/>
                </a:tc>
                <a:extLst>
                  <a:ext uri="{0D108BD9-81ED-4DB2-BD59-A6C34878D82A}">
                    <a16:rowId xmlns:a16="http://schemas.microsoft.com/office/drawing/2014/main" val="2607955352"/>
                  </a:ext>
                </a:extLst>
              </a:tr>
              <a:tr h="568475">
                <a:tc>
                  <a:txBody>
                    <a:bodyPr/>
                    <a:lstStyle/>
                    <a:p>
                      <a:pPr marL="0" algn="l" defTabSz="914400" rtl="0" eaLnBrk="1" latinLnBrk="0" hangingPunct="1"/>
                      <a:r>
                        <a:rPr lang="en-IN" sz="1800" b="0" u="none" kern="1200">
                          <a:solidFill>
                            <a:schemeClr val="dk1"/>
                          </a:solidFill>
                        </a:rPr>
                        <a:t>Refundable</a:t>
                      </a:r>
                      <a:endParaRPr lang="en-IN" sz="1800" b="0" u="none" kern="1200">
                        <a:solidFill>
                          <a:schemeClr val="dk1"/>
                        </a:solidFill>
                        <a:latin typeface="+mn-lt"/>
                        <a:ea typeface="+mn-ea"/>
                        <a:cs typeface="+mn-cs"/>
                      </a:endParaRPr>
                    </a:p>
                  </a:txBody>
                  <a:tcPr anchor="ctr"/>
                </a:tc>
                <a:tc>
                  <a:txBody>
                    <a:bodyPr/>
                    <a:lstStyle/>
                    <a:p>
                      <a:pPr marL="0" algn="l" defTabSz="914400" rtl="0" eaLnBrk="1" latinLnBrk="0" hangingPunct="1"/>
                      <a:r>
                        <a:rPr lang="en-IN" sz="1800" b="0" u="none" kern="1200">
                          <a:solidFill>
                            <a:schemeClr val="dk1"/>
                          </a:solidFill>
                        </a:rPr>
                        <a:t>24.3%</a:t>
                      </a:r>
                      <a:endParaRPr lang="en-IN" sz="1800" b="0" u="none" kern="1200">
                        <a:solidFill>
                          <a:schemeClr val="dk1"/>
                        </a:solidFill>
                        <a:latin typeface="+mn-lt"/>
                        <a:ea typeface="+mn-ea"/>
                        <a:cs typeface="+mn-cs"/>
                      </a:endParaRPr>
                    </a:p>
                  </a:txBody>
                  <a:tcPr anchor="ctr"/>
                </a:tc>
                <a:extLst>
                  <a:ext uri="{0D108BD9-81ED-4DB2-BD59-A6C34878D82A}">
                    <a16:rowId xmlns:a16="http://schemas.microsoft.com/office/drawing/2014/main" val="604328358"/>
                  </a:ext>
                </a:extLst>
              </a:tr>
              <a:tr h="568475">
                <a:tc>
                  <a:txBody>
                    <a:bodyPr/>
                    <a:lstStyle/>
                    <a:p>
                      <a:pPr marL="0" algn="l" defTabSz="914400" rtl="0" eaLnBrk="1" latinLnBrk="0" hangingPunct="1"/>
                      <a:r>
                        <a:rPr lang="en-IN" sz="1800" b="0" u="none" kern="1200" dirty="0">
                          <a:solidFill>
                            <a:schemeClr val="dk1"/>
                          </a:solidFill>
                        </a:rPr>
                        <a:t>Non-Refundable</a:t>
                      </a:r>
                      <a:endParaRPr lang="en-IN" sz="1800" b="0" u="none" kern="1200" dirty="0">
                        <a:solidFill>
                          <a:schemeClr val="dk1"/>
                        </a:solidFill>
                        <a:latin typeface="+mn-lt"/>
                        <a:ea typeface="+mn-ea"/>
                        <a:cs typeface="+mn-cs"/>
                      </a:endParaRPr>
                    </a:p>
                  </a:txBody>
                  <a:tcPr anchor="ctr"/>
                </a:tc>
                <a:tc>
                  <a:txBody>
                    <a:bodyPr/>
                    <a:lstStyle/>
                    <a:p>
                      <a:pPr marL="0" algn="l" defTabSz="914400" rtl="0" eaLnBrk="1" latinLnBrk="0" hangingPunct="1"/>
                      <a:r>
                        <a:rPr lang="en-IN" sz="1800" b="0" u="none" kern="1200" dirty="0">
                          <a:solidFill>
                            <a:schemeClr val="dk1"/>
                          </a:solidFill>
                        </a:rPr>
                        <a:t>94.7%</a:t>
                      </a:r>
                      <a:endParaRPr lang="en-IN" sz="1800" b="0" u="none" kern="1200" dirty="0">
                        <a:solidFill>
                          <a:schemeClr val="dk1"/>
                        </a:solidFill>
                        <a:latin typeface="+mn-lt"/>
                        <a:ea typeface="+mn-ea"/>
                        <a:cs typeface="+mn-cs"/>
                      </a:endParaRPr>
                    </a:p>
                  </a:txBody>
                  <a:tcPr anchor="ctr"/>
                </a:tc>
                <a:extLst>
                  <a:ext uri="{0D108BD9-81ED-4DB2-BD59-A6C34878D82A}">
                    <a16:rowId xmlns:a16="http://schemas.microsoft.com/office/drawing/2014/main" val="1563542894"/>
                  </a:ext>
                </a:extLst>
              </a:tr>
            </a:tbl>
          </a:graphicData>
        </a:graphic>
      </p:graphicFrame>
    </p:spTree>
    <p:extLst>
      <p:ext uri="{BB962C8B-B14F-4D97-AF65-F5344CB8AC3E}">
        <p14:creationId xmlns:p14="http://schemas.microsoft.com/office/powerpoint/2010/main" val="1514334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Special Requests &amp; Cancellations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06598" y="4690534"/>
            <a:ext cx="9554697" cy="114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GB" sz="2400" b="1" dirty="0"/>
              <a:t>Insight</a:t>
            </a:r>
            <a:r>
              <a:rPr lang="en-GB" sz="2400" dirty="0"/>
              <a:t>: More requests indicate stronger booking intent and lower risk of cancellation.</a:t>
            </a:r>
            <a:endParaRPr kumimoji="0" lang="en-US" altLang="en-US" sz="2400" b="0" i="0" u="none" strike="noStrike" cap="none" normalizeH="0" baseline="0" dirty="0">
              <a:ln>
                <a:noFill/>
              </a:ln>
              <a:solidFill>
                <a:schemeClr val="tx1"/>
              </a:solidFill>
              <a:effectLst/>
              <a:cs typeface="Arial" panose="020B0604020202020204" pitchFamily="34" charset="0"/>
            </a:endParaRPr>
          </a:p>
        </p:txBody>
      </p:sp>
      <p:graphicFrame>
        <p:nvGraphicFramePr>
          <p:cNvPr id="3" name="Table 2">
            <a:extLst>
              <a:ext uri="{FF2B5EF4-FFF2-40B4-BE49-F238E27FC236}">
                <a16:creationId xmlns:a16="http://schemas.microsoft.com/office/drawing/2014/main" id="{3A3117E5-A7DC-4216-9D97-FEB5609C27B8}"/>
              </a:ext>
            </a:extLst>
          </p:cNvPr>
          <p:cNvGraphicFramePr>
            <a:graphicFrameLocks noGrp="1"/>
          </p:cNvGraphicFramePr>
          <p:nvPr>
            <p:extLst>
              <p:ext uri="{D42A27DB-BD31-4B8C-83A1-F6EECF244321}">
                <p14:modId xmlns:p14="http://schemas.microsoft.com/office/powerpoint/2010/main" val="1832033981"/>
              </p:ext>
            </p:extLst>
          </p:nvPr>
        </p:nvGraphicFramePr>
        <p:xfrm>
          <a:off x="806598" y="2245360"/>
          <a:ext cx="4435962" cy="2295264"/>
        </p:xfrm>
        <a:graphic>
          <a:graphicData uri="http://schemas.openxmlformats.org/drawingml/2006/table">
            <a:tbl>
              <a:tblPr>
                <a:tableStyleId>{073A0DAA-6AF3-43AB-8588-CEC1D06C72B9}</a:tableStyleId>
              </a:tblPr>
              <a:tblGrid>
                <a:gridCol w="2217981">
                  <a:extLst>
                    <a:ext uri="{9D8B030D-6E8A-4147-A177-3AD203B41FA5}">
                      <a16:colId xmlns:a16="http://schemas.microsoft.com/office/drawing/2014/main" val="3628475790"/>
                    </a:ext>
                  </a:extLst>
                </a:gridCol>
                <a:gridCol w="2217981">
                  <a:extLst>
                    <a:ext uri="{9D8B030D-6E8A-4147-A177-3AD203B41FA5}">
                      <a16:colId xmlns:a16="http://schemas.microsoft.com/office/drawing/2014/main" val="1141840425"/>
                    </a:ext>
                  </a:extLst>
                </a:gridCol>
              </a:tblGrid>
              <a:tr h="765088">
                <a:tc>
                  <a:txBody>
                    <a:bodyPr/>
                    <a:lstStyle/>
                    <a:p>
                      <a:r>
                        <a:rPr lang="en-IN" b="1" u="sng"/>
                        <a:t># Special Requests</a:t>
                      </a:r>
                    </a:p>
                  </a:txBody>
                  <a:tcPr anchor="ctr"/>
                </a:tc>
                <a:tc>
                  <a:txBody>
                    <a:bodyPr/>
                    <a:lstStyle/>
                    <a:p>
                      <a:r>
                        <a:rPr lang="en-IN" b="1" u="sng" dirty="0"/>
                        <a:t>Cancellation Rate</a:t>
                      </a:r>
                    </a:p>
                  </a:txBody>
                  <a:tcPr anchor="ctr"/>
                </a:tc>
                <a:extLst>
                  <a:ext uri="{0D108BD9-81ED-4DB2-BD59-A6C34878D82A}">
                    <a16:rowId xmlns:a16="http://schemas.microsoft.com/office/drawing/2014/main" val="4091024764"/>
                  </a:ext>
                </a:extLst>
              </a:tr>
              <a:tr h="765088">
                <a:tc>
                  <a:txBody>
                    <a:bodyPr/>
                    <a:lstStyle/>
                    <a:p>
                      <a:r>
                        <a:rPr lang="en-IN"/>
                        <a:t>0</a:t>
                      </a:r>
                    </a:p>
                  </a:txBody>
                  <a:tcPr anchor="ctr"/>
                </a:tc>
                <a:tc>
                  <a:txBody>
                    <a:bodyPr/>
                    <a:lstStyle/>
                    <a:p>
                      <a:r>
                        <a:rPr lang="en-IN"/>
                        <a:t>33%</a:t>
                      </a:r>
                    </a:p>
                  </a:txBody>
                  <a:tcPr anchor="ctr"/>
                </a:tc>
                <a:extLst>
                  <a:ext uri="{0D108BD9-81ED-4DB2-BD59-A6C34878D82A}">
                    <a16:rowId xmlns:a16="http://schemas.microsoft.com/office/drawing/2014/main" val="1579425047"/>
                  </a:ext>
                </a:extLst>
              </a:tr>
              <a:tr h="765088">
                <a:tc>
                  <a:txBody>
                    <a:bodyPr/>
                    <a:lstStyle/>
                    <a:p>
                      <a:r>
                        <a:rPr lang="en-IN"/>
                        <a:t>3+</a:t>
                      </a:r>
                    </a:p>
                  </a:txBody>
                  <a:tcPr anchor="ctr"/>
                </a:tc>
                <a:tc>
                  <a:txBody>
                    <a:bodyPr/>
                    <a:lstStyle/>
                    <a:p>
                      <a:r>
                        <a:rPr lang="en-IN" dirty="0"/>
                        <a:t>&lt;17%</a:t>
                      </a:r>
                    </a:p>
                  </a:txBody>
                  <a:tcPr anchor="ctr"/>
                </a:tc>
                <a:extLst>
                  <a:ext uri="{0D108BD9-81ED-4DB2-BD59-A6C34878D82A}">
                    <a16:rowId xmlns:a16="http://schemas.microsoft.com/office/drawing/2014/main" val="1693535922"/>
                  </a:ext>
                </a:extLst>
              </a:tr>
            </a:tbl>
          </a:graphicData>
        </a:graphic>
      </p:graphicFrame>
      <p:pic>
        <p:nvPicPr>
          <p:cNvPr id="8" name="Picture 7">
            <a:extLst>
              <a:ext uri="{FF2B5EF4-FFF2-40B4-BE49-F238E27FC236}">
                <a16:creationId xmlns:a16="http://schemas.microsoft.com/office/drawing/2014/main" id="{0250FC2E-F71B-4B72-82B3-0E7A2C97DE2E}"/>
              </a:ext>
            </a:extLst>
          </p:cNvPr>
          <p:cNvPicPr>
            <a:picLocks noChangeAspect="1"/>
          </p:cNvPicPr>
          <p:nvPr/>
        </p:nvPicPr>
        <p:blipFill>
          <a:blip r:embed="rId4">
            <a:grayscl/>
          </a:blip>
          <a:stretch>
            <a:fillRect/>
          </a:stretch>
        </p:blipFill>
        <p:spPr>
          <a:xfrm>
            <a:off x="6096000" y="1874367"/>
            <a:ext cx="4667494" cy="2816167"/>
          </a:xfrm>
          <a:prstGeom prst="rect">
            <a:avLst/>
          </a:prstGeom>
        </p:spPr>
      </p:pic>
    </p:spTree>
    <p:extLst>
      <p:ext uri="{BB962C8B-B14F-4D97-AF65-F5344CB8AC3E}">
        <p14:creationId xmlns:p14="http://schemas.microsoft.com/office/powerpoint/2010/main" val="165733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Guest Type Analysis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06598" y="4896413"/>
            <a:ext cx="9554697"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GB" sz="2400" b="1" dirty="0"/>
              <a:t>Insight</a:t>
            </a:r>
            <a:r>
              <a:rPr lang="en-GB" sz="2400" dirty="0"/>
              <a:t>: Repeat guests show strong loyalty and reliability.</a:t>
            </a:r>
            <a:endParaRPr kumimoji="0" lang="en-US" altLang="en-US" sz="2400" b="0" i="0" u="none" strike="noStrike" cap="none" normalizeH="0" baseline="0" dirty="0">
              <a:ln>
                <a:noFill/>
              </a:ln>
              <a:solidFill>
                <a:schemeClr val="tx1"/>
              </a:solidFill>
              <a:effectLst/>
              <a:cs typeface="Arial" panose="020B0604020202020204" pitchFamily="34" charset="0"/>
            </a:endParaRPr>
          </a:p>
        </p:txBody>
      </p:sp>
      <p:graphicFrame>
        <p:nvGraphicFramePr>
          <p:cNvPr id="4" name="Table 3">
            <a:extLst>
              <a:ext uri="{FF2B5EF4-FFF2-40B4-BE49-F238E27FC236}">
                <a16:creationId xmlns:a16="http://schemas.microsoft.com/office/drawing/2014/main" id="{C1B2C46F-23CB-4340-B9EC-CC67A5051A1F}"/>
              </a:ext>
            </a:extLst>
          </p:cNvPr>
          <p:cNvGraphicFramePr>
            <a:graphicFrameLocks noGrp="1"/>
          </p:cNvGraphicFramePr>
          <p:nvPr>
            <p:extLst>
              <p:ext uri="{D42A27DB-BD31-4B8C-83A1-F6EECF244321}">
                <p14:modId xmlns:p14="http://schemas.microsoft.com/office/powerpoint/2010/main" val="680555833"/>
              </p:ext>
            </p:extLst>
          </p:nvPr>
        </p:nvGraphicFramePr>
        <p:xfrm>
          <a:off x="838200" y="2193216"/>
          <a:ext cx="9118600" cy="2051919"/>
        </p:xfrm>
        <a:graphic>
          <a:graphicData uri="http://schemas.openxmlformats.org/drawingml/2006/table">
            <a:tbl>
              <a:tblPr>
                <a:tableStyleId>{073A0DAA-6AF3-43AB-8588-CEC1D06C72B9}</a:tableStyleId>
              </a:tblPr>
              <a:tblGrid>
                <a:gridCol w="4559300">
                  <a:extLst>
                    <a:ext uri="{9D8B030D-6E8A-4147-A177-3AD203B41FA5}">
                      <a16:colId xmlns:a16="http://schemas.microsoft.com/office/drawing/2014/main" val="24991715"/>
                    </a:ext>
                  </a:extLst>
                </a:gridCol>
                <a:gridCol w="4559300">
                  <a:extLst>
                    <a:ext uri="{9D8B030D-6E8A-4147-A177-3AD203B41FA5}">
                      <a16:colId xmlns:a16="http://schemas.microsoft.com/office/drawing/2014/main" val="1519634443"/>
                    </a:ext>
                  </a:extLst>
                </a:gridCol>
              </a:tblGrid>
              <a:tr h="683973">
                <a:tc>
                  <a:txBody>
                    <a:bodyPr/>
                    <a:lstStyle/>
                    <a:p>
                      <a:r>
                        <a:rPr lang="en-IN" sz="2400" b="1" u="sng"/>
                        <a:t>Guest Type</a:t>
                      </a:r>
                      <a:endParaRPr lang="en-IN" sz="2400" b="1" u="sng">
                        <a:latin typeface="+mn-lt"/>
                      </a:endParaRPr>
                    </a:p>
                  </a:txBody>
                  <a:tcPr anchor="ctr"/>
                </a:tc>
                <a:tc>
                  <a:txBody>
                    <a:bodyPr/>
                    <a:lstStyle/>
                    <a:p>
                      <a:r>
                        <a:rPr lang="en-IN" sz="2400" b="1" u="sng" dirty="0"/>
                        <a:t>Cancellation Rate</a:t>
                      </a:r>
                      <a:endParaRPr lang="en-IN" sz="2400" b="1" u="sng" dirty="0">
                        <a:latin typeface="+mn-lt"/>
                      </a:endParaRPr>
                    </a:p>
                  </a:txBody>
                  <a:tcPr anchor="ctr"/>
                </a:tc>
                <a:extLst>
                  <a:ext uri="{0D108BD9-81ED-4DB2-BD59-A6C34878D82A}">
                    <a16:rowId xmlns:a16="http://schemas.microsoft.com/office/drawing/2014/main" val="1598173714"/>
                  </a:ext>
                </a:extLst>
              </a:tr>
              <a:tr h="683973">
                <a:tc>
                  <a:txBody>
                    <a:bodyPr/>
                    <a:lstStyle/>
                    <a:p>
                      <a:r>
                        <a:rPr lang="en-IN" sz="2400"/>
                        <a:t>First-Time</a:t>
                      </a:r>
                      <a:endParaRPr lang="en-IN" sz="2400">
                        <a:latin typeface="+mn-lt"/>
                      </a:endParaRPr>
                    </a:p>
                  </a:txBody>
                  <a:tcPr anchor="ctr"/>
                </a:tc>
                <a:tc>
                  <a:txBody>
                    <a:bodyPr/>
                    <a:lstStyle/>
                    <a:p>
                      <a:r>
                        <a:rPr lang="en-IN" sz="2400" dirty="0"/>
                        <a:t>28%</a:t>
                      </a:r>
                      <a:endParaRPr lang="en-IN" sz="2400" dirty="0">
                        <a:latin typeface="+mn-lt"/>
                      </a:endParaRPr>
                    </a:p>
                  </a:txBody>
                  <a:tcPr anchor="ctr"/>
                </a:tc>
                <a:extLst>
                  <a:ext uri="{0D108BD9-81ED-4DB2-BD59-A6C34878D82A}">
                    <a16:rowId xmlns:a16="http://schemas.microsoft.com/office/drawing/2014/main" val="3183479808"/>
                  </a:ext>
                </a:extLst>
              </a:tr>
              <a:tr h="683973">
                <a:tc>
                  <a:txBody>
                    <a:bodyPr/>
                    <a:lstStyle/>
                    <a:p>
                      <a:r>
                        <a:rPr lang="en-IN" sz="2400"/>
                        <a:t>Repeat Guests</a:t>
                      </a:r>
                      <a:endParaRPr lang="en-IN" sz="2400">
                        <a:latin typeface="+mn-lt"/>
                      </a:endParaRPr>
                    </a:p>
                  </a:txBody>
                  <a:tcPr anchor="ctr"/>
                </a:tc>
                <a:tc>
                  <a:txBody>
                    <a:bodyPr/>
                    <a:lstStyle/>
                    <a:p>
                      <a:r>
                        <a:rPr lang="en-IN" sz="2400" dirty="0"/>
                        <a:t>7.6%</a:t>
                      </a:r>
                      <a:endParaRPr lang="en-IN" sz="2400" dirty="0">
                        <a:latin typeface="+mn-lt"/>
                      </a:endParaRPr>
                    </a:p>
                  </a:txBody>
                  <a:tcPr anchor="ctr"/>
                </a:tc>
                <a:extLst>
                  <a:ext uri="{0D108BD9-81ED-4DB2-BD59-A6C34878D82A}">
                    <a16:rowId xmlns:a16="http://schemas.microsoft.com/office/drawing/2014/main" val="400524203"/>
                  </a:ext>
                </a:extLst>
              </a:tr>
            </a:tbl>
          </a:graphicData>
        </a:graphic>
      </p:graphicFrame>
    </p:spTree>
    <p:extLst>
      <p:ext uri="{BB962C8B-B14F-4D97-AF65-F5344CB8AC3E}">
        <p14:creationId xmlns:p14="http://schemas.microsoft.com/office/powerpoint/2010/main" val="2593784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Lead Time Analysis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06598" y="5015091"/>
            <a:ext cx="9554697" cy="114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GB" sz="2400" b="1" dirty="0"/>
              <a:t>Insight</a:t>
            </a:r>
            <a:r>
              <a:rPr lang="en-GB" sz="2400" dirty="0"/>
              <a:t>: Longer planning horizon correlates with increased risk of cancellation.</a:t>
            </a:r>
            <a:endParaRPr kumimoji="0" lang="en-US" altLang="en-US" sz="2400" b="0" i="0" u="none" strike="noStrike" cap="none" normalizeH="0" baseline="0" dirty="0">
              <a:ln>
                <a:noFill/>
              </a:ln>
              <a:solidFill>
                <a:schemeClr val="tx1"/>
              </a:solidFill>
              <a:effectLst/>
              <a:cs typeface="Arial" panose="020B0604020202020204" pitchFamily="34" charset="0"/>
            </a:endParaRPr>
          </a:p>
        </p:txBody>
      </p:sp>
      <p:graphicFrame>
        <p:nvGraphicFramePr>
          <p:cNvPr id="4" name="Table 3">
            <a:extLst>
              <a:ext uri="{FF2B5EF4-FFF2-40B4-BE49-F238E27FC236}">
                <a16:creationId xmlns:a16="http://schemas.microsoft.com/office/drawing/2014/main" id="{C1B2C46F-23CB-4340-B9EC-CC67A5051A1F}"/>
              </a:ext>
            </a:extLst>
          </p:cNvPr>
          <p:cNvGraphicFramePr>
            <a:graphicFrameLocks noGrp="1"/>
          </p:cNvGraphicFramePr>
          <p:nvPr>
            <p:extLst>
              <p:ext uri="{D42A27DB-BD31-4B8C-83A1-F6EECF244321}">
                <p14:modId xmlns:p14="http://schemas.microsoft.com/office/powerpoint/2010/main" val="1197611013"/>
              </p:ext>
            </p:extLst>
          </p:nvPr>
        </p:nvGraphicFramePr>
        <p:xfrm>
          <a:off x="838200" y="2292136"/>
          <a:ext cx="5461000" cy="2300187"/>
        </p:xfrm>
        <a:graphic>
          <a:graphicData uri="http://schemas.openxmlformats.org/drawingml/2006/table">
            <a:tbl>
              <a:tblPr>
                <a:tableStyleId>{073A0DAA-6AF3-43AB-8588-CEC1D06C72B9}</a:tableStyleId>
              </a:tblPr>
              <a:tblGrid>
                <a:gridCol w="2730500">
                  <a:extLst>
                    <a:ext uri="{9D8B030D-6E8A-4147-A177-3AD203B41FA5}">
                      <a16:colId xmlns:a16="http://schemas.microsoft.com/office/drawing/2014/main" val="24991715"/>
                    </a:ext>
                  </a:extLst>
                </a:gridCol>
                <a:gridCol w="2730500">
                  <a:extLst>
                    <a:ext uri="{9D8B030D-6E8A-4147-A177-3AD203B41FA5}">
                      <a16:colId xmlns:a16="http://schemas.microsoft.com/office/drawing/2014/main" val="1519634443"/>
                    </a:ext>
                  </a:extLst>
                </a:gridCol>
              </a:tblGrid>
              <a:tr h="766729">
                <a:tc>
                  <a:txBody>
                    <a:bodyPr/>
                    <a:lstStyle/>
                    <a:p>
                      <a:r>
                        <a:rPr lang="en-IN" sz="2400" b="1" u="sng">
                          <a:latin typeface="+mn-lt"/>
                        </a:rPr>
                        <a:t>Lead Time (Days)</a:t>
                      </a:r>
                    </a:p>
                  </a:txBody>
                  <a:tcPr anchor="ctr"/>
                </a:tc>
                <a:tc>
                  <a:txBody>
                    <a:bodyPr/>
                    <a:lstStyle/>
                    <a:p>
                      <a:r>
                        <a:rPr lang="en-IN" sz="2400" b="1" u="sng" dirty="0">
                          <a:latin typeface="+mn-lt"/>
                        </a:rPr>
                        <a:t>Cancellation Rate</a:t>
                      </a:r>
                    </a:p>
                  </a:txBody>
                  <a:tcPr anchor="ctr"/>
                </a:tc>
                <a:extLst>
                  <a:ext uri="{0D108BD9-81ED-4DB2-BD59-A6C34878D82A}">
                    <a16:rowId xmlns:a16="http://schemas.microsoft.com/office/drawing/2014/main" val="1598173714"/>
                  </a:ext>
                </a:extLst>
              </a:tr>
              <a:tr h="766729">
                <a:tc>
                  <a:txBody>
                    <a:bodyPr/>
                    <a:lstStyle/>
                    <a:p>
                      <a:r>
                        <a:rPr lang="en-IN" sz="2400">
                          <a:latin typeface="+mn-lt"/>
                        </a:rPr>
                        <a:t>~106 (Cancelled)</a:t>
                      </a:r>
                    </a:p>
                  </a:txBody>
                  <a:tcPr anchor="ctr"/>
                </a:tc>
                <a:tc>
                  <a:txBody>
                    <a:bodyPr/>
                    <a:lstStyle/>
                    <a:p>
                      <a:r>
                        <a:rPr lang="en-IN" sz="2400">
                          <a:latin typeface="+mn-lt"/>
                        </a:rPr>
                        <a:t>High</a:t>
                      </a:r>
                    </a:p>
                  </a:txBody>
                  <a:tcPr anchor="ctr"/>
                </a:tc>
                <a:extLst>
                  <a:ext uri="{0D108BD9-81ED-4DB2-BD59-A6C34878D82A}">
                    <a16:rowId xmlns:a16="http://schemas.microsoft.com/office/drawing/2014/main" val="3183479808"/>
                  </a:ext>
                </a:extLst>
              </a:tr>
              <a:tr h="766729">
                <a:tc>
                  <a:txBody>
                    <a:bodyPr/>
                    <a:lstStyle/>
                    <a:p>
                      <a:r>
                        <a:rPr lang="en-IN" sz="2400">
                          <a:latin typeface="+mn-lt"/>
                        </a:rPr>
                        <a:t>~70 (Not Cancelled)</a:t>
                      </a:r>
                    </a:p>
                  </a:txBody>
                  <a:tcPr anchor="ctr"/>
                </a:tc>
                <a:tc>
                  <a:txBody>
                    <a:bodyPr/>
                    <a:lstStyle/>
                    <a:p>
                      <a:r>
                        <a:rPr lang="en-IN" sz="2400" dirty="0">
                          <a:latin typeface="+mn-lt"/>
                        </a:rPr>
                        <a:t>Low</a:t>
                      </a:r>
                    </a:p>
                  </a:txBody>
                  <a:tcPr anchor="ctr"/>
                </a:tc>
                <a:extLst>
                  <a:ext uri="{0D108BD9-81ED-4DB2-BD59-A6C34878D82A}">
                    <a16:rowId xmlns:a16="http://schemas.microsoft.com/office/drawing/2014/main" val="400524203"/>
                  </a:ext>
                </a:extLst>
              </a:tr>
            </a:tbl>
          </a:graphicData>
        </a:graphic>
      </p:graphicFrame>
      <p:pic>
        <p:nvPicPr>
          <p:cNvPr id="8" name="Picture 7">
            <a:extLst>
              <a:ext uri="{FF2B5EF4-FFF2-40B4-BE49-F238E27FC236}">
                <a16:creationId xmlns:a16="http://schemas.microsoft.com/office/drawing/2014/main" id="{D19D9B5F-A4C6-4A9E-B5E8-A0D5DE48400E}"/>
              </a:ext>
            </a:extLst>
          </p:cNvPr>
          <p:cNvPicPr>
            <a:picLocks noChangeAspect="1"/>
          </p:cNvPicPr>
          <p:nvPr/>
        </p:nvPicPr>
        <p:blipFill>
          <a:blip r:embed="rId4">
            <a:grayscl/>
          </a:blip>
          <a:stretch>
            <a:fillRect/>
          </a:stretch>
        </p:blipFill>
        <p:spPr>
          <a:xfrm>
            <a:off x="6764527" y="1671286"/>
            <a:ext cx="3749041" cy="2958828"/>
          </a:xfrm>
          <a:prstGeom prst="rect">
            <a:avLst/>
          </a:prstGeom>
        </p:spPr>
      </p:pic>
    </p:spTree>
    <p:extLst>
      <p:ext uri="{BB962C8B-B14F-4D97-AF65-F5344CB8AC3E}">
        <p14:creationId xmlns:p14="http://schemas.microsoft.com/office/powerpoint/2010/main" val="2836261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Day of Arrival Impact</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06598" y="4995334"/>
            <a:ext cx="9554697" cy="114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GB" sz="2400" b="1" dirty="0"/>
              <a:t>Insight</a:t>
            </a:r>
            <a:r>
              <a:rPr lang="en-GB" sz="2400" dirty="0"/>
              <a:t>: Weekend bookings are more likely leisure-oriented and hence more volatile.</a:t>
            </a:r>
            <a:endParaRPr kumimoji="0" lang="en-US" altLang="en-US" sz="2400" b="0" i="0" u="none" strike="noStrike" cap="none" normalizeH="0" baseline="0" dirty="0">
              <a:ln>
                <a:noFill/>
              </a:ln>
              <a:solidFill>
                <a:schemeClr val="tx1"/>
              </a:solidFill>
              <a:effectLst/>
              <a:cs typeface="Arial" panose="020B0604020202020204" pitchFamily="34" charset="0"/>
            </a:endParaRPr>
          </a:p>
        </p:txBody>
      </p:sp>
      <p:graphicFrame>
        <p:nvGraphicFramePr>
          <p:cNvPr id="4" name="Table 3">
            <a:extLst>
              <a:ext uri="{FF2B5EF4-FFF2-40B4-BE49-F238E27FC236}">
                <a16:creationId xmlns:a16="http://schemas.microsoft.com/office/drawing/2014/main" id="{C1B2C46F-23CB-4340-B9EC-CC67A5051A1F}"/>
              </a:ext>
            </a:extLst>
          </p:cNvPr>
          <p:cNvGraphicFramePr>
            <a:graphicFrameLocks noGrp="1"/>
          </p:cNvGraphicFramePr>
          <p:nvPr>
            <p:extLst>
              <p:ext uri="{D42A27DB-BD31-4B8C-83A1-F6EECF244321}">
                <p14:modId xmlns:p14="http://schemas.microsoft.com/office/powerpoint/2010/main" val="3772827098"/>
              </p:ext>
            </p:extLst>
          </p:nvPr>
        </p:nvGraphicFramePr>
        <p:xfrm>
          <a:off x="838200" y="1898576"/>
          <a:ext cx="4577080" cy="2735892"/>
        </p:xfrm>
        <a:graphic>
          <a:graphicData uri="http://schemas.openxmlformats.org/drawingml/2006/table">
            <a:tbl>
              <a:tblPr>
                <a:tableStyleId>{073A0DAA-6AF3-43AB-8588-CEC1D06C72B9}</a:tableStyleId>
              </a:tblPr>
              <a:tblGrid>
                <a:gridCol w="1732280">
                  <a:extLst>
                    <a:ext uri="{9D8B030D-6E8A-4147-A177-3AD203B41FA5}">
                      <a16:colId xmlns:a16="http://schemas.microsoft.com/office/drawing/2014/main" val="24991715"/>
                    </a:ext>
                  </a:extLst>
                </a:gridCol>
                <a:gridCol w="2844800">
                  <a:extLst>
                    <a:ext uri="{9D8B030D-6E8A-4147-A177-3AD203B41FA5}">
                      <a16:colId xmlns:a16="http://schemas.microsoft.com/office/drawing/2014/main" val="1519634443"/>
                    </a:ext>
                  </a:extLst>
                </a:gridCol>
              </a:tblGrid>
              <a:tr h="683973">
                <a:tc>
                  <a:txBody>
                    <a:bodyPr/>
                    <a:lstStyle/>
                    <a:p>
                      <a:r>
                        <a:rPr lang="en-IN" sz="2400" b="1" u="sng"/>
                        <a:t>Day</a:t>
                      </a:r>
                    </a:p>
                  </a:txBody>
                  <a:tcPr anchor="ctr"/>
                </a:tc>
                <a:tc>
                  <a:txBody>
                    <a:bodyPr/>
                    <a:lstStyle/>
                    <a:p>
                      <a:r>
                        <a:rPr lang="en-IN" sz="2400" b="1" u="sng" dirty="0"/>
                        <a:t>Cancellation Rate</a:t>
                      </a:r>
                    </a:p>
                  </a:txBody>
                  <a:tcPr anchor="ctr"/>
                </a:tc>
                <a:extLst>
                  <a:ext uri="{0D108BD9-81ED-4DB2-BD59-A6C34878D82A}">
                    <a16:rowId xmlns:a16="http://schemas.microsoft.com/office/drawing/2014/main" val="1598173714"/>
                  </a:ext>
                </a:extLst>
              </a:tr>
              <a:tr h="683973">
                <a:tc>
                  <a:txBody>
                    <a:bodyPr/>
                    <a:lstStyle/>
                    <a:p>
                      <a:r>
                        <a:rPr lang="en-IN" sz="2400"/>
                        <a:t>Friday</a:t>
                      </a:r>
                    </a:p>
                  </a:txBody>
                  <a:tcPr anchor="ctr"/>
                </a:tc>
                <a:tc>
                  <a:txBody>
                    <a:bodyPr/>
                    <a:lstStyle/>
                    <a:p>
                      <a:r>
                        <a:rPr lang="en-IN" sz="2400"/>
                        <a:t>30.5%</a:t>
                      </a:r>
                    </a:p>
                  </a:txBody>
                  <a:tcPr anchor="ctr"/>
                </a:tc>
                <a:extLst>
                  <a:ext uri="{0D108BD9-81ED-4DB2-BD59-A6C34878D82A}">
                    <a16:rowId xmlns:a16="http://schemas.microsoft.com/office/drawing/2014/main" val="3183479808"/>
                  </a:ext>
                </a:extLst>
              </a:tr>
              <a:tr h="683973">
                <a:tc>
                  <a:txBody>
                    <a:bodyPr/>
                    <a:lstStyle/>
                    <a:p>
                      <a:r>
                        <a:rPr lang="en-IN" sz="2400"/>
                        <a:t>Saturday</a:t>
                      </a:r>
                    </a:p>
                  </a:txBody>
                  <a:tcPr anchor="ctr"/>
                </a:tc>
                <a:tc>
                  <a:txBody>
                    <a:bodyPr/>
                    <a:lstStyle/>
                    <a:p>
                      <a:r>
                        <a:rPr lang="en-IN" sz="2400"/>
                        <a:t>30.1%</a:t>
                      </a:r>
                    </a:p>
                  </a:txBody>
                  <a:tcPr anchor="ctr"/>
                </a:tc>
                <a:extLst>
                  <a:ext uri="{0D108BD9-81ED-4DB2-BD59-A6C34878D82A}">
                    <a16:rowId xmlns:a16="http://schemas.microsoft.com/office/drawing/2014/main" val="400524203"/>
                  </a:ext>
                </a:extLst>
              </a:tr>
              <a:tr h="683973">
                <a:tc>
                  <a:txBody>
                    <a:bodyPr/>
                    <a:lstStyle/>
                    <a:p>
                      <a:r>
                        <a:rPr lang="en-IN" sz="2400"/>
                        <a:t>Tuesday</a:t>
                      </a:r>
                    </a:p>
                  </a:txBody>
                  <a:tcPr anchor="ctr"/>
                </a:tc>
                <a:tc>
                  <a:txBody>
                    <a:bodyPr/>
                    <a:lstStyle/>
                    <a:p>
                      <a:r>
                        <a:rPr lang="en-IN" sz="2400" dirty="0"/>
                        <a:t>24.3%</a:t>
                      </a:r>
                    </a:p>
                  </a:txBody>
                  <a:tcPr anchor="ctr"/>
                </a:tc>
                <a:extLst>
                  <a:ext uri="{0D108BD9-81ED-4DB2-BD59-A6C34878D82A}">
                    <a16:rowId xmlns:a16="http://schemas.microsoft.com/office/drawing/2014/main" val="3944580489"/>
                  </a:ext>
                </a:extLst>
              </a:tr>
            </a:tbl>
          </a:graphicData>
        </a:graphic>
      </p:graphicFrame>
      <p:pic>
        <p:nvPicPr>
          <p:cNvPr id="10" name="Picture 9">
            <a:extLst>
              <a:ext uri="{FF2B5EF4-FFF2-40B4-BE49-F238E27FC236}">
                <a16:creationId xmlns:a16="http://schemas.microsoft.com/office/drawing/2014/main" id="{0540C26E-FE8D-4E2C-95D5-0D8B2D58BB58}"/>
              </a:ext>
            </a:extLst>
          </p:cNvPr>
          <p:cNvPicPr>
            <a:picLocks noChangeAspect="1"/>
          </p:cNvPicPr>
          <p:nvPr/>
        </p:nvPicPr>
        <p:blipFill>
          <a:blip r:embed="rId4">
            <a:grayscl/>
          </a:blip>
          <a:stretch>
            <a:fillRect/>
          </a:stretch>
        </p:blipFill>
        <p:spPr>
          <a:xfrm>
            <a:off x="5761862" y="1898576"/>
            <a:ext cx="4599433" cy="2915127"/>
          </a:xfrm>
          <a:prstGeom prst="rect">
            <a:avLst/>
          </a:prstGeom>
        </p:spPr>
      </p:pic>
    </p:spTree>
    <p:extLst>
      <p:ext uri="{BB962C8B-B14F-4D97-AF65-F5344CB8AC3E}">
        <p14:creationId xmlns:p14="http://schemas.microsoft.com/office/powerpoint/2010/main" val="2081071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Market Segment Analysis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06598" y="4954694"/>
            <a:ext cx="9554697" cy="114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GB" sz="2400" b="1" dirty="0"/>
              <a:t>Insight</a:t>
            </a:r>
            <a:r>
              <a:rPr lang="en-GB" sz="2400" dirty="0"/>
              <a:t>: OTA bookings are more prone to cancellations, requires stricter management or incentives for confirmations.</a:t>
            </a:r>
            <a:endParaRPr kumimoji="0" lang="en-US" altLang="en-US" sz="2400" b="0" i="0" u="none" strike="noStrike" cap="none" normalizeH="0" baseline="0" dirty="0">
              <a:ln>
                <a:noFill/>
              </a:ln>
              <a:solidFill>
                <a:schemeClr val="tx1"/>
              </a:solidFill>
              <a:effectLst/>
              <a:cs typeface="Arial" panose="020B0604020202020204" pitchFamily="34" charset="0"/>
            </a:endParaRPr>
          </a:p>
        </p:txBody>
      </p:sp>
      <p:graphicFrame>
        <p:nvGraphicFramePr>
          <p:cNvPr id="4" name="Table 3">
            <a:extLst>
              <a:ext uri="{FF2B5EF4-FFF2-40B4-BE49-F238E27FC236}">
                <a16:creationId xmlns:a16="http://schemas.microsoft.com/office/drawing/2014/main" id="{C1B2C46F-23CB-4340-B9EC-CC67A5051A1F}"/>
              </a:ext>
            </a:extLst>
          </p:cNvPr>
          <p:cNvGraphicFramePr>
            <a:graphicFrameLocks noGrp="1"/>
          </p:cNvGraphicFramePr>
          <p:nvPr>
            <p:extLst>
              <p:ext uri="{D42A27DB-BD31-4B8C-83A1-F6EECF244321}">
                <p14:modId xmlns:p14="http://schemas.microsoft.com/office/powerpoint/2010/main" val="1661342815"/>
              </p:ext>
            </p:extLst>
          </p:nvPr>
        </p:nvGraphicFramePr>
        <p:xfrm>
          <a:off x="838200" y="2122096"/>
          <a:ext cx="9118600" cy="2051919"/>
        </p:xfrm>
        <a:graphic>
          <a:graphicData uri="http://schemas.openxmlformats.org/drawingml/2006/table">
            <a:tbl>
              <a:tblPr>
                <a:tableStyleId>{073A0DAA-6AF3-43AB-8588-CEC1D06C72B9}</a:tableStyleId>
              </a:tblPr>
              <a:tblGrid>
                <a:gridCol w="4559300">
                  <a:extLst>
                    <a:ext uri="{9D8B030D-6E8A-4147-A177-3AD203B41FA5}">
                      <a16:colId xmlns:a16="http://schemas.microsoft.com/office/drawing/2014/main" val="24991715"/>
                    </a:ext>
                  </a:extLst>
                </a:gridCol>
                <a:gridCol w="4559300">
                  <a:extLst>
                    <a:ext uri="{9D8B030D-6E8A-4147-A177-3AD203B41FA5}">
                      <a16:colId xmlns:a16="http://schemas.microsoft.com/office/drawing/2014/main" val="1519634443"/>
                    </a:ext>
                  </a:extLst>
                </a:gridCol>
              </a:tblGrid>
              <a:tr h="683973">
                <a:tc>
                  <a:txBody>
                    <a:bodyPr/>
                    <a:lstStyle/>
                    <a:p>
                      <a:r>
                        <a:rPr lang="en-IN" sz="2400" b="1" u="sng">
                          <a:latin typeface="+mn-lt"/>
                        </a:rPr>
                        <a:t>Segment</a:t>
                      </a:r>
                    </a:p>
                  </a:txBody>
                  <a:tcPr anchor="ctr"/>
                </a:tc>
                <a:tc>
                  <a:txBody>
                    <a:bodyPr/>
                    <a:lstStyle/>
                    <a:p>
                      <a:r>
                        <a:rPr lang="en-IN" sz="2400" b="1" u="sng" dirty="0">
                          <a:latin typeface="+mn-lt"/>
                        </a:rPr>
                        <a:t>Cancellation Rate</a:t>
                      </a:r>
                    </a:p>
                  </a:txBody>
                  <a:tcPr anchor="ctr"/>
                </a:tc>
                <a:extLst>
                  <a:ext uri="{0D108BD9-81ED-4DB2-BD59-A6C34878D82A}">
                    <a16:rowId xmlns:a16="http://schemas.microsoft.com/office/drawing/2014/main" val="1598173714"/>
                  </a:ext>
                </a:extLst>
              </a:tr>
              <a:tr h="683973">
                <a:tc>
                  <a:txBody>
                    <a:bodyPr/>
                    <a:lstStyle/>
                    <a:p>
                      <a:r>
                        <a:rPr lang="en-IN" sz="2400">
                          <a:latin typeface="+mn-lt"/>
                        </a:rPr>
                        <a:t>Online Travel Agents (OTA)</a:t>
                      </a:r>
                    </a:p>
                  </a:txBody>
                  <a:tcPr anchor="ctr"/>
                </a:tc>
                <a:tc>
                  <a:txBody>
                    <a:bodyPr/>
                    <a:lstStyle/>
                    <a:p>
                      <a:r>
                        <a:rPr lang="en-IN" sz="2400">
                          <a:latin typeface="+mn-lt"/>
                        </a:rPr>
                        <a:t>Highest</a:t>
                      </a:r>
                    </a:p>
                  </a:txBody>
                  <a:tcPr anchor="ctr"/>
                </a:tc>
                <a:extLst>
                  <a:ext uri="{0D108BD9-81ED-4DB2-BD59-A6C34878D82A}">
                    <a16:rowId xmlns:a16="http://schemas.microsoft.com/office/drawing/2014/main" val="3183479808"/>
                  </a:ext>
                </a:extLst>
              </a:tr>
              <a:tr h="683973">
                <a:tc>
                  <a:txBody>
                    <a:bodyPr/>
                    <a:lstStyle/>
                    <a:p>
                      <a:r>
                        <a:rPr lang="en-IN" sz="2400">
                          <a:latin typeface="+mn-lt"/>
                        </a:rPr>
                        <a:t>Corporate/Complementary</a:t>
                      </a:r>
                    </a:p>
                  </a:txBody>
                  <a:tcPr anchor="ctr"/>
                </a:tc>
                <a:tc>
                  <a:txBody>
                    <a:bodyPr/>
                    <a:lstStyle/>
                    <a:p>
                      <a:r>
                        <a:rPr lang="en-IN" sz="2400" dirty="0">
                          <a:latin typeface="+mn-lt"/>
                        </a:rPr>
                        <a:t>Lowest</a:t>
                      </a:r>
                    </a:p>
                  </a:txBody>
                  <a:tcPr anchor="ctr"/>
                </a:tc>
                <a:extLst>
                  <a:ext uri="{0D108BD9-81ED-4DB2-BD59-A6C34878D82A}">
                    <a16:rowId xmlns:a16="http://schemas.microsoft.com/office/drawing/2014/main" val="400524203"/>
                  </a:ext>
                </a:extLst>
              </a:tr>
            </a:tbl>
          </a:graphicData>
        </a:graphic>
      </p:graphicFrame>
    </p:spTree>
    <p:extLst>
      <p:ext uri="{BB962C8B-B14F-4D97-AF65-F5344CB8AC3E}">
        <p14:creationId xmlns:p14="http://schemas.microsoft.com/office/powerpoint/2010/main" val="670982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Country-wise Guest </a:t>
            </a:r>
            <a:r>
              <a:rPr lang="en-IN" sz="4800" b="1" u="sng" dirty="0" err="1">
                <a:latin typeface="Leelawadee" panose="020B0502040204020203" pitchFamily="34" charset="-34"/>
                <a:ea typeface="Yu Gothic UI Semibold" panose="020B0700000000000000" pitchFamily="34" charset="-128"/>
                <a:cs typeface="Leelawadee" panose="020B0502040204020203" pitchFamily="34" charset="-34"/>
              </a:rPr>
              <a:t>Behavior</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06598" y="1931284"/>
            <a:ext cx="955469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2400" dirty="0"/>
              <a:t>Top 10 international guest countries include </a:t>
            </a:r>
            <a:r>
              <a:rPr lang="en-GB" sz="2400" b="1" dirty="0"/>
              <a:t>UK, France, Spain, Germany, USA</a:t>
            </a:r>
            <a:r>
              <a:rPr lang="en-GB" sz="2400" dirty="0"/>
              <a:t>.</a:t>
            </a:r>
          </a:p>
          <a:p>
            <a:br>
              <a:rPr lang="en-GB" sz="2400" dirty="0"/>
            </a:br>
            <a:r>
              <a:rPr lang="en-GB" sz="2400" dirty="0"/>
              <a:t>International guests:-</a:t>
            </a:r>
          </a:p>
          <a:p>
            <a:pPr>
              <a:buFont typeface="Arial" panose="020B0604020202020204" pitchFamily="34" charset="0"/>
              <a:buChar char="•"/>
            </a:pPr>
            <a:r>
              <a:rPr lang="en-GB" sz="2400" dirty="0"/>
              <a:t>Book earlier</a:t>
            </a:r>
          </a:p>
          <a:p>
            <a:pPr>
              <a:buFont typeface="Arial" panose="020B0604020202020204" pitchFamily="34" charset="0"/>
              <a:buChar char="•"/>
            </a:pPr>
            <a:r>
              <a:rPr lang="en-GB" sz="2400" dirty="0"/>
              <a:t>Stay longer</a:t>
            </a:r>
          </a:p>
          <a:p>
            <a:pPr>
              <a:buFont typeface="Arial" panose="020B0604020202020204" pitchFamily="34" charset="0"/>
              <a:buChar char="•"/>
            </a:pPr>
            <a:r>
              <a:rPr lang="en-GB" sz="2400" dirty="0"/>
              <a:t>Make more special requests</a:t>
            </a:r>
          </a:p>
          <a:p>
            <a:pPr>
              <a:buFont typeface="Arial" panose="020B0604020202020204" pitchFamily="34" charset="0"/>
              <a:buChar char="•"/>
            </a:pPr>
            <a:r>
              <a:rPr lang="en-GB" sz="2400" dirty="0"/>
              <a:t>Cancel less frequently</a:t>
            </a:r>
          </a:p>
          <a:p>
            <a:pPr>
              <a:buFont typeface="Arial" panose="020B0604020202020204" pitchFamily="34" charset="0"/>
              <a:buChar char="•"/>
            </a:pPr>
            <a:endParaRPr lang="en-GB" sz="2400" dirty="0"/>
          </a:p>
          <a:p>
            <a:r>
              <a:rPr lang="en-GB" sz="2400" b="1" dirty="0"/>
              <a:t>Insight</a:t>
            </a:r>
            <a:r>
              <a:rPr lang="en-GB" sz="2400" dirty="0"/>
              <a:t>: International guests offer more stable and profitable bookings.</a:t>
            </a:r>
          </a:p>
        </p:txBody>
      </p:sp>
      <p:pic>
        <p:nvPicPr>
          <p:cNvPr id="10" name="Picture 9">
            <a:extLst>
              <a:ext uri="{FF2B5EF4-FFF2-40B4-BE49-F238E27FC236}">
                <a16:creationId xmlns:a16="http://schemas.microsoft.com/office/drawing/2014/main" id="{4D9DBCBD-4B2F-41CB-8E96-51CE569E16B9}"/>
              </a:ext>
            </a:extLst>
          </p:cNvPr>
          <p:cNvPicPr>
            <a:picLocks noChangeAspect="1"/>
          </p:cNvPicPr>
          <p:nvPr/>
        </p:nvPicPr>
        <p:blipFill>
          <a:blip r:embed="rId4">
            <a:grayscl/>
          </a:blip>
          <a:stretch>
            <a:fillRect/>
          </a:stretch>
        </p:blipFill>
        <p:spPr>
          <a:xfrm>
            <a:off x="5083048" y="2504847"/>
            <a:ext cx="4873752" cy="2638526"/>
          </a:xfrm>
          <a:prstGeom prst="rect">
            <a:avLst/>
          </a:prstGeom>
        </p:spPr>
      </p:pic>
    </p:spTree>
    <p:extLst>
      <p:ext uri="{BB962C8B-B14F-4D97-AF65-F5344CB8AC3E}">
        <p14:creationId xmlns:p14="http://schemas.microsoft.com/office/powerpoint/2010/main" val="926667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4269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Monthly Booking Trends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30877" y="1723975"/>
            <a:ext cx="9554697" cy="4467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Font typeface="Arial" panose="020B0604020202020204" pitchFamily="34" charset="0"/>
              <a:buChar char="•"/>
            </a:pPr>
            <a:r>
              <a:rPr lang="en-GB" sz="2400" dirty="0"/>
              <a:t>Peak bookings in </a:t>
            </a:r>
            <a:r>
              <a:rPr lang="en-GB" sz="2400" b="1" dirty="0"/>
              <a:t>July and August</a:t>
            </a:r>
            <a:endParaRPr lang="en-GB" sz="2400" dirty="0"/>
          </a:p>
          <a:p>
            <a:pPr>
              <a:lnSpc>
                <a:spcPct val="150000"/>
              </a:lnSpc>
              <a:buFont typeface="Arial" panose="020B0604020202020204" pitchFamily="34" charset="0"/>
              <a:buChar char="•"/>
            </a:pPr>
            <a:r>
              <a:rPr lang="en-GB" sz="2400" dirty="0"/>
              <a:t>Dip in </a:t>
            </a:r>
            <a:r>
              <a:rPr lang="en-GB" sz="2400" b="1" dirty="0"/>
              <a:t>November and January</a:t>
            </a:r>
            <a:endParaRPr lang="en-GB" sz="2400" dirty="0"/>
          </a:p>
          <a:p>
            <a:pPr>
              <a:lnSpc>
                <a:spcPct val="150000"/>
              </a:lnSpc>
              <a:buFont typeface="Arial" panose="020B0604020202020204" pitchFamily="34" charset="0"/>
              <a:buChar char="•"/>
            </a:pPr>
            <a:r>
              <a:rPr lang="en-GB" sz="2400" dirty="0"/>
              <a:t>Summer months have high </a:t>
            </a:r>
          </a:p>
          <a:p>
            <a:pPr>
              <a:lnSpc>
                <a:spcPct val="150000"/>
              </a:lnSpc>
            </a:pPr>
            <a:r>
              <a:rPr lang="en-GB" sz="2400" dirty="0"/>
              <a:t>  cancellations</a:t>
            </a:r>
          </a:p>
          <a:p>
            <a:pPr>
              <a:lnSpc>
                <a:spcPct val="150000"/>
              </a:lnSpc>
            </a:pPr>
            <a:endParaRPr lang="en-GB" sz="2400" dirty="0"/>
          </a:p>
          <a:p>
            <a:pPr>
              <a:lnSpc>
                <a:spcPct val="150000"/>
              </a:lnSpc>
            </a:pPr>
            <a:endParaRPr lang="en-GB" sz="2400" dirty="0"/>
          </a:p>
          <a:p>
            <a:pPr>
              <a:lnSpc>
                <a:spcPct val="150000"/>
              </a:lnSpc>
            </a:pPr>
            <a:r>
              <a:rPr lang="en-GB" sz="2400" b="1" dirty="0"/>
              <a:t>Insight</a:t>
            </a:r>
            <a:r>
              <a:rPr lang="en-GB" sz="2400" dirty="0"/>
              <a:t>: Seasonality impacts both volume and risk. Consider overbooking or flexible pricing.</a:t>
            </a:r>
          </a:p>
        </p:txBody>
      </p:sp>
      <p:pic>
        <p:nvPicPr>
          <p:cNvPr id="8" name="Picture 7">
            <a:extLst>
              <a:ext uri="{FF2B5EF4-FFF2-40B4-BE49-F238E27FC236}">
                <a16:creationId xmlns:a16="http://schemas.microsoft.com/office/drawing/2014/main" id="{4C33E57B-5138-40DA-83B7-1C8C06E6DB4A}"/>
              </a:ext>
            </a:extLst>
          </p:cNvPr>
          <p:cNvPicPr>
            <a:picLocks noChangeAspect="1"/>
          </p:cNvPicPr>
          <p:nvPr/>
        </p:nvPicPr>
        <p:blipFill>
          <a:blip r:embed="rId4">
            <a:grayscl/>
          </a:blip>
          <a:stretch>
            <a:fillRect/>
          </a:stretch>
        </p:blipFill>
        <p:spPr>
          <a:xfrm>
            <a:off x="5492506" y="1863589"/>
            <a:ext cx="6364224" cy="2835592"/>
          </a:xfrm>
          <a:prstGeom prst="rect">
            <a:avLst/>
          </a:prstGeom>
        </p:spPr>
      </p:pic>
    </p:spTree>
    <p:extLst>
      <p:ext uri="{BB962C8B-B14F-4D97-AF65-F5344CB8AC3E}">
        <p14:creationId xmlns:p14="http://schemas.microsoft.com/office/powerpoint/2010/main" val="2185461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500454"/>
            <a:ext cx="1124316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Monthly cancellations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9" name="Group 8">
            <a:extLst>
              <a:ext uri="{FF2B5EF4-FFF2-40B4-BE49-F238E27FC236}">
                <a16:creationId xmlns:a16="http://schemas.microsoft.com/office/drawing/2014/main" id="{FB5258CB-0C99-4E21-848C-D149FCEB3ADB}"/>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0408E05-A66D-462A-88A1-778DCFF2F281}"/>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0DC6BFB7-9DC6-4844-9D76-24919D7F962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CED805FD-F4D6-4B92-A391-7BC4046D3916}"/>
              </a:ext>
            </a:extLst>
          </p:cNvPr>
          <p:cNvSpPr>
            <a:spLocks noChangeArrowheads="1"/>
          </p:cNvSpPr>
          <p:nvPr/>
        </p:nvSpPr>
        <p:spPr bwMode="auto">
          <a:xfrm>
            <a:off x="806599" y="1358307"/>
            <a:ext cx="955469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GB" sz="2400" dirty="0"/>
              <a:t>Cancellations steadily increased from 2015 to 2017</a:t>
            </a:r>
          </a:p>
          <a:p>
            <a:pPr>
              <a:buFont typeface="Arial" panose="020B0604020202020204" pitchFamily="34" charset="0"/>
              <a:buChar char="•"/>
            </a:pPr>
            <a:r>
              <a:rPr lang="en-GB" sz="2400" dirty="0"/>
              <a:t>The highest number of cancellations occurred in </a:t>
            </a:r>
            <a:r>
              <a:rPr lang="en-GB" sz="2400" b="1" dirty="0"/>
              <a:t>August 2017</a:t>
            </a:r>
            <a:endParaRPr lang="en-GB" sz="2400" dirty="0"/>
          </a:p>
          <a:p>
            <a:pPr>
              <a:buFont typeface="Arial" panose="020B0604020202020204" pitchFamily="34" charset="0"/>
              <a:buChar char="•"/>
            </a:pPr>
            <a:r>
              <a:rPr lang="en-GB" sz="2400" dirty="0"/>
              <a:t>The lowest were observed in </a:t>
            </a:r>
            <a:r>
              <a:rPr lang="en-GB" sz="2400" b="1" dirty="0"/>
              <a:t>November 2015</a:t>
            </a:r>
            <a:r>
              <a:rPr lang="en-GB" sz="2400" dirty="0"/>
              <a:t> and </a:t>
            </a:r>
            <a:r>
              <a:rPr lang="en-GB" sz="2400" b="1" dirty="0"/>
              <a:t>January 2016</a:t>
            </a:r>
            <a:endParaRPr lang="en-GB" sz="2400" dirty="0"/>
          </a:p>
          <a:p>
            <a:endParaRPr lang="en-GB" sz="2400" b="1" dirty="0"/>
          </a:p>
          <a:p>
            <a:endParaRPr lang="en-GB" sz="2400" b="1" dirty="0"/>
          </a:p>
          <a:p>
            <a:endParaRPr lang="en-GB" sz="2400" b="1" dirty="0"/>
          </a:p>
          <a:p>
            <a:endParaRPr lang="en-GB" sz="2400" b="1" dirty="0"/>
          </a:p>
          <a:p>
            <a:endParaRPr lang="en-GB" sz="2400" b="1" dirty="0"/>
          </a:p>
          <a:p>
            <a:endParaRPr lang="en-GB" sz="2400" b="1" dirty="0"/>
          </a:p>
          <a:p>
            <a:endParaRPr lang="en-GB" sz="2400" b="1" dirty="0"/>
          </a:p>
          <a:p>
            <a:r>
              <a:rPr lang="en-GB" sz="2400" b="1" dirty="0"/>
              <a:t>Insight</a:t>
            </a:r>
            <a:r>
              <a:rPr lang="en-GB" sz="2400" dirty="0"/>
              <a:t>:</a:t>
            </a:r>
            <a:br>
              <a:rPr lang="en-GB" sz="2400" dirty="0"/>
            </a:br>
            <a:r>
              <a:rPr lang="en-GB" sz="2400" dirty="0"/>
              <a:t>Summer months, especially </a:t>
            </a:r>
            <a:r>
              <a:rPr lang="en-GB" sz="2400" b="1" dirty="0"/>
              <a:t>July and August</a:t>
            </a:r>
            <a:r>
              <a:rPr lang="en-GB" sz="2400" dirty="0"/>
              <a:t>, consistently experienced higher cancellations — possibly driven by overbooking during peak travel season or last-minute changes in guest plans.</a:t>
            </a:r>
          </a:p>
        </p:txBody>
      </p:sp>
      <p:pic>
        <p:nvPicPr>
          <p:cNvPr id="13" name="Picture 12">
            <a:extLst>
              <a:ext uri="{FF2B5EF4-FFF2-40B4-BE49-F238E27FC236}">
                <a16:creationId xmlns:a16="http://schemas.microsoft.com/office/drawing/2014/main" id="{06E95F58-50D0-447D-8683-D6D45248ACF9}"/>
              </a:ext>
            </a:extLst>
          </p:cNvPr>
          <p:cNvPicPr>
            <a:picLocks noChangeAspect="1"/>
          </p:cNvPicPr>
          <p:nvPr/>
        </p:nvPicPr>
        <p:blipFill>
          <a:blip r:embed="rId4">
            <a:grayscl/>
          </a:blip>
          <a:stretch>
            <a:fillRect/>
          </a:stretch>
        </p:blipFill>
        <p:spPr>
          <a:xfrm>
            <a:off x="1713992" y="2657963"/>
            <a:ext cx="6096000" cy="2542032"/>
          </a:xfrm>
          <a:prstGeom prst="rect">
            <a:avLst/>
          </a:prstGeom>
        </p:spPr>
      </p:pic>
    </p:spTree>
    <p:extLst>
      <p:ext uri="{BB962C8B-B14F-4D97-AF65-F5344CB8AC3E}">
        <p14:creationId xmlns:p14="http://schemas.microsoft.com/office/powerpoint/2010/main" val="2842352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2527991-9573-4469-A026-8FF1738482E6}"/>
              </a:ext>
            </a:extLst>
          </p:cNvPr>
          <p:cNvSpPr txBox="1"/>
          <p:nvPr/>
        </p:nvSpPr>
        <p:spPr>
          <a:xfrm>
            <a:off x="806599" y="998294"/>
            <a:ext cx="9058761" cy="923330"/>
          </a:xfrm>
          <a:prstGeom prst="rect">
            <a:avLst/>
          </a:prstGeom>
          <a:noFill/>
        </p:spPr>
        <p:txBody>
          <a:bodyPr wrap="square">
            <a:spAutoFit/>
          </a:bodyPr>
          <a:lstStyle/>
          <a:p>
            <a:pPr lvl="0"/>
            <a:r>
              <a:rPr lang="en-IN" sz="5400" b="1" u="sng" dirty="0">
                <a:latin typeface="Leelawadee" panose="020B0502040204020203" pitchFamily="34" charset="-34"/>
                <a:ea typeface="Yu Gothic UI Semibold" panose="020B0700000000000000" pitchFamily="34" charset="-128"/>
                <a:cs typeface="Leelawadee" panose="020B0502040204020203" pitchFamily="34" charset="-34"/>
              </a:rPr>
              <a:t>Key Insights Summary</a:t>
            </a:r>
          </a:p>
        </p:txBody>
      </p:sp>
      <p:grpSp>
        <p:nvGrpSpPr>
          <p:cNvPr id="9" name="Group 8">
            <a:extLst>
              <a:ext uri="{FF2B5EF4-FFF2-40B4-BE49-F238E27FC236}">
                <a16:creationId xmlns:a16="http://schemas.microsoft.com/office/drawing/2014/main" id="{EEA69886-5AB4-4299-BA12-129555686D8A}"/>
              </a:ext>
            </a:extLst>
          </p:cNvPr>
          <p:cNvGrpSpPr/>
          <p:nvPr/>
        </p:nvGrpSpPr>
        <p:grpSpPr>
          <a:xfrm>
            <a:off x="73160" y="5353468"/>
            <a:ext cx="12118840" cy="1458084"/>
            <a:chOff x="73160" y="5353468"/>
            <a:chExt cx="12118840" cy="1458084"/>
          </a:xfrm>
        </p:grpSpPr>
        <p:cxnSp>
          <p:nvCxnSpPr>
            <p:cNvPr id="10" name="Straight Connector 9">
              <a:extLst>
                <a:ext uri="{FF2B5EF4-FFF2-40B4-BE49-F238E27FC236}">
                  <a16:creationId xmlns:a16="http://schemas.microsoft.com/office/drawing/2014/main" id="{EF80B3E9-CAD8-47D0-9D7A-4981DA95808A}"/>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1FC13ED5-1665-4D01-AD06-F9764105568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4" name="Rectangle 1">
            <a:extLst>
              <a:ext uri="{FF2B5EF4-FFF2-40B4-BE49-F238E27FC236}">
                <a16:creationId xmlns:a16="http://schemas.microsoft.com/office/drawing/2014/main" id="{A47A367F-AC3C-45D0-A66C-BA01B5418788}"/>
              </a:ext>
            </a:extLst>
          </p:cNvPr>
          <p:cNvSpPr>
            <a:spLocks noChangeArrowheads="1"/>
          </p:cNvSpPr>
          <p:nvPr/>
        </p:nvSpPr>
        <p:spPr bwMode="auto">
          <a:xfrm>
            <a:off x="806599" y="2513763"/>
            <a:ext cx="8022441" cy="280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Longer lead time</a:t>
            </a:r>
            <a:r>
              <a:rPr kumimoji="0" lang="en-US" altLang="en-US" sz="2400" b="0" i="0" u="none" strike="noStrike" cap="none" normalizeH="0" baseline="0" dirty="0">
                <a:ln>
                  <a:noFill/>
                </a:ln>
                <a:solidFill>
                  <a:schemeClr val="tx1"/>
                </a:solidFill>
                <a:effectLst/>
              </a:rPr>
              <a:t> increases cancellation chances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Repeat guests</a:t>
            </a:r>
            <a:r>
              <a:rPr kumimoji="0" lang="en-US" altLang="en-US" sz="2400" b="0" i="0" u="none" strike="noStrike" cap="none" normalizeH="0" baseline="0" dirty="0">
                <a:ln>
                  <a:noFill/>
                </a:ln>
                <a:solidFill>
                  <a:schemeClr val="tx1"/>
                </a:solidFill>
                <a:effectLst/>
              </a:rPr>
              <a:t> and </a:t>
            </a:r>
            <a:r>
              <a:rPr kumimoji="0" lang="en-US" altLang="en-US" sz="2400" b="1" i="0" u="none" strike="noStrike" cap="none" normalizeH="0" baseline="0" dirty="0">
                <a:ln>
                  <a:noFill/>
                </a:ln>
                <a:solidFill>
                  <a:schemeClr val="tx1"/>
                </a:solidFill>
                <a:effectLst/>
              </a:rPr>
              <a:t>special requesters</a:t>
            </a:r>
            <a:r>
              <a:rPr kumimoji="0" lang="en-US" altLang="en-US" sz="2400" b="0" i="0" u="none" strike="noStrike" cap="none" normalizeH="0" baseline="0" dirty="0">
                <a:ln>
                  <a:noFill/>
                </a:ln>
                <a:solidFill>
                  <a:schemeClr val="tx1"/>
                </a:solidFill>
                <a:effectLst/>
              </a:rPr>
              <a:t> are more reliable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Weekend bookings</a:t>
            </a:r>
            <a:r>
              <a:rPr kumimoji="0" lang="en-US" altLang="en-US" sz="2400" b="0" i="0" u="none" strike="noStrike" cap="none" normalizeH="0" baseline="0" dirty="0">
                <a:ln>
                  <a:noFill/>
                </a:ln>
                <a:solidFill>
                  <a:schemeClr val="tx1"/>
                </a:solidFill>
                <a:effectLst/>
              </a:rPr>
              <a:t> show higher cancellation rates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OTA</a:t>
            </a:r>
            <a:r>
              <a:rPr kumimoji="0" lang="en-US" altLang="en-US" sz="2400" b="0" i="0" u="none" strike="noStrike" cap="none" normalizeH="0" baseline="0" dirty="0">
                <a:ln>
                  <a:noFill/>
                </a:ln>
                <a:solidFill>
                  <a:schemeClr val="tx1"/>
                </a:solidFill>
                <a:effectLst/>
              </a:rPr>
              <a:t> channel has the highest cancellation ratio</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International guests</a:t>
            </a:r>
            <a:r>
              <a:rPr kumimoji="0" lang="en-US" altLang="en-US" sz="2400" b="0" i="0" u="none" strike="noStrike" cap="none" normalizeH="0" baseline="0" dirty="0">
                <a:ln>
                  <a:noFill/>
                </a:ln>
                <a:solidFill>
                  <a:schemeClr val="tx1"/>
                </a:solidFill>
                <a:effectLst/>
              </a:rPr>
              <a:t> are more valuable</a:t>
            </a:r>
          </a:p>
        </p:txBody>
      </p:sp>
    </p:spTree>
    <p:extLst>
      <p:ext uri="{BB962C8B-B14F-4D97-AF65-F5344CB8AC3E}">
        <p14:creationId xmlns:p14="http://schemas.microsoft.com/office/powerpoint/2010/main" val="17817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2527991-9573-4469-A026-8FF1738482E6}"/>
              </a:ext>
            </a:extLst>
          </p:cNvPr>
          <p:cNvSpPr txBox="1"/>
          <p:nvPr/>
        </p:nvSpPr>
        <p:spPr>
          <a:xfrm>
            <a:off x="806599" y="998294"/>
            <a:ext cx="6762601" cy="923330"/>
          </a:xfrm>
          <a:prstGeom prst="rect">
            <a:avLst/>
          </a:prstGeom>
          <a:noFill/>
        </p:spPr>
        <p:txBody>
          <a:bodyPr wrap="square">
            <a:spAutoFit/>
          </a:bodyPr>
          <a:lstStyle/>
          <a:p>
            <a:pPr lvl="0"/>
            <a:r>
              <a:rPr lang="en-IN" sz="5400" b="1" u="sng" dirty="0">
                <a:latin typeface="Leelawadee" panose="020B0502040204020203" pitchFamily="34" charset="-34"/>
                <a:ea typeface="Yu Gothic UI Semibold" panose="020B0700000000000000" pitchFamily="34" charset="-128"/>
                <a:cs typeface="Leelawadee" panose="020B0502040204020203" pitchFamily="34" charset="-34"/>
              </a:rPr>
              <a:t>Recommendations:</a:t>
            </a:r>
          </a:p>
        </p:txBody>
      </p:sp>
      <p:grpSp>
        <p:nvGrpSpPr>
          <p:cNvPr id="9" name="Group 8">
            <a:extLst>
              <a:ext uri="{FF2B5EF4-FFF2-40B4-BE49-F238E27FC236}">
                <a16:creationId xmlns:a16="http://schemas.microsoft.com/office/drawing/2014/main" id="{EEA69886-5AB4-4299-BA12-129555686D8A}"/>
              </a:ext>
            </a:extLst>
          </p:cNvPr>
          <p:cNvGrpSpPr/>
          <p:nvPr/>
        </p:nvGrpSpPr>
        <p:grpSpPr>
          <a:xfrm>
            <a:off x="73160" y="5353468"/>
            <a:ext cx="12118840" cy="1458084"/>
            <a:chOff x="73160" y="5353468"/>
            <a:chExt cx="12118840" cy="1458084"/>
          </a:xfrm>
        </p:grpSpPr>
        <p:cxnSp>
          <p:nvCxnSpPr>
            <p:cNvPr id="10" name="Straight Connector 9">
              <a:extLst>
                <a:ext uri="{FF2B5EF4-FFF2-40B4-BE49-F238E27FC236}">
                  <a16:creationId xmlns:a16="http://schemas.microsoft.com/office/drawing/2014/main" id="{EF80B3E9-CAD8-47D0-9D7A-4981DA95808A}"/>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1FC13ED5-1665-4D01-AD06-F9764105568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
        <p:nvSpPr>
          <p:cNvPr id="2" name="Rectangle 1">
            <a:extLst>
              <a:ext uri="{FF2B5EF4-FFF2-40B4-BE49-F238E27FC236}">
                <a16:creationId xmlns:a16="http://schemas.microsoft.com/office/drawing/2014/main" id="{EA526552-5F55-4259-95D8-DFFDD882BBD3}"/>
              </a:ext>
            </a:extLst>
          </p:cNvPr>
          <p:cNvSpPr>
            <a:spLocks noChangeArrowheads="1"/>
          </p:cNvSpPr>
          <p:nvPr/>
        </p:nvSpPr>
        <p:spPr bwMode="auto">
          <a:xfrm>
            <a:off x="806599" y="2296803"/>
            <a:ext cx="8554720" cy="3359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Reward </a:t>
            </a:r>
            <a:r>
              <a:rPr kumimoji="0" lang="en-US" altLang="en-US" sz="2400" b="1" i="0" u="none" strike="noStrike" cap="none" normalizeH="0" baseline="0" dirty="0">
                <a:ln>
                  <a:noFill/>
                </a:ln>
                <a:solidFill>
                  <a:schemeClr val="tx1"/>
                </a:solidFill>
                <a:effectLst/>
              </a:rPr>
              <a:t>repeat guests</a:t>
            </a:r>
            <a:r>
              <a:rPr kumimoji="0" lang="en-US" altLang="en-US" sz="2400" b="0" i="0" u="none" strike="noStrike" cap="none" normalizeH="0" baseline="0" dirty="0">
                <a:ln>
                  <a:noFill/>
                </a:ln>
                <a:solidFill>
                  <a:schemeClr val="tx1"/>
                </a:solidFill>
                <a:effectLst/>
              </a:rPr>
              <a:t> with loyalty benefits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Encourage </a:t>
            </a:r>
            <a:r>
              <a:rPr kumimoji="0" lang="en-US" altLang="en-US" sz="2400" b="1" i="0" u="none" strike="noStrike" cap="none" normalizeH="0" baseline="0" dirty="0">
                <a:ln>
                  <a:noFill/>
                </a:ln>
                <a:solidFill>
                  <a:schemeClr val="tx1"/>
                </a:solidFill>
                <a:effectLst/>
              </a:rPr>
              <a:t>special requests</a:t>
            </a:r>
            <a:r>
              <a:rPr kumimoji="0" lang="en-US" altLang="en-US" sz="2400" b="0" i="0" u="none" strike="noStrike" cap="none" normalizeH="0" baseline="0" dirty="0">
                <a:ln>
                  <a:noFill/>
                </a:ln>
                <a:solidFill>
                  <a:schemeClr val="tx1"/>
                </a:solidFill>
                <a:effectLst/>
              </a:rPr>
              <a:t> during booking for higher retention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Introduce stricter follow-ups for </a:t>
            </a:r>
            <a:r>
              <a:rPr kumimoji="0" lang="en-US" altLang="en-US" sz="2400" b="1" i="0" u="none" strike="noStrike" cap="none" normalizeH="0" baseline="0" dirty="0">
                <a:ln>
                  <a:noFill/>
                </a:ln>
                <a:solidFill>
                  <a:schemeClr val="tx1"/>
                </a:solidFill>
                <a:effectLst/>
              </a:rPr>
              <a:t>OTA</a:t>
            </a:r>
            <a:r>
              <a:rPr kumimoji="0" lang="en-US" altLang="en-US" sz="2400" b="0" i="0" u="none" strike="noStrike" cap="none" normalizeH="0" baseline="0" dirty="0">
                <a:ln>
                  <a:noFill/>
                </a:ln>
                <a:solidFill>
                  <a:schemeClr val="tx1"/>
                </a:solidFill>
                <a:effectLst/>
              </a:rPr>
              <a:t> bookings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Personalize offers for </a:t>
            </a:r>
            <a:r>
              <a:rPr kumimoji="0" lang="en-US" altLang="en-US" sz="2400" b="1" i="0" u="none" strike="noStrike" cap="none" normalizeH="0" baseline="0" dirty="0">
                <a:ln>
                  <a:noFill/>
                </a:ln>
                <a:solidFill>
                  <a:schemeClr val="tx1"/>
                </a:solidFill>
                <a:effectLst/>
              </a:rPr>
              <a:t>international travelers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Add incentives for </a:t>
            </a:r>
            <a:r>
              <a:rPr kumimoji="0" lang="en-US" altLang="en-US" sz="2400" b="1" i="0" u="none" strike="noStrike" cap="none" normalizeH="0" baseline="0" dirty="0">
                <a:ln>
                  <a:noFill/>
                </a:ln>
                <a:solidFill>
                  <a:schemeClr val="tx1"/>
                </a:solidFill>
                <a:effectLst/>
              </a:rPr>
              <a:t>early confirmation</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Slightly </a:t>
            </a:r>
            <a:r>
              <a:rPr kumimoji="0" lang="en-US" altLang="en-US" sz="2400" b="1" i="0" u="none" strike="noStrike" cap="none" normalizeH="0" baseline="0" dirty="0">
                <a:ln>
                  <a:noFill/>
                </a:ln>
                <a:solidFill>
                  <a:schemeClr val="tx1"/>
                </a:solidFill>
                <a:effectLst/>
              </a:rPr>
              <a:t>overbook</a:t>
            </a:r>
            <a:r>
              <a:rPr kumimoji="0" lang="en-US" altLang="en-US" sz="2400" b="0" i="0" u="none" strike="noStrike" cap="none" normalizeH="0" baseline="0" dirty="0">
                <a:ln>
                  <a:noFill/>
                </a:ln>
                <a:solidFill>
                  <a:schemeClr val="tx1"/>
                </a:solidFill>
                <a:effectLst/>
              </a:rPr>
              <a:t> during high-risk periods</a:t>
            </a:r>
          </a:p>
        </p:txBody>
      </p:sp>
    </p:spTree>
    <p:extLst>
      <p:ext uri="{BB962C8B-B14F-4D97-AF65-F5344CB8AC3E}">
        <p14:creationId xmlns:p14="http://schemas.microsoft.com/office/powerpoint/2010/main" val="926202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F17F7B2-0C7A-4A25-9C23-7C2502CE99CB}"/>
              </a:ext>
            </a:extLst>
          </p:cNvPr>
          <p:cNvSpPr txBox="1"/>
          <p:nvPr/>
        </p:nvSpPr>
        <p:spPr>
          <a:xfrm>
            <a:off x="806599" y="998294"/>
            <a:ext cx="5152241" cy="923330"/>
          </a:xfrm>
          <a:prstGeom prst="rect">
            <a:avLst/>
          </a:prstGeom>
          <a:noFill/>
        </p:spPr>
        <p:txBody>
          <a:bodyPr wrap="square">
            <a:spAutoFit/>
          </a:bodyPr>
          <a:lstStyle/>
          <a:p>
            <a:pPr lvl="0"/>
            <a:r>
              <a:rPr lang="en-IN" sz="5400" b="1" u="sng" dirty="0">
                <a:latin typeface="Leelawadee" panose="020B0502040204020203" pitchFamily="34" charset="-34"/>
                <a:ea typeface="Yu Gothic UI Semibold" panose="020B0700000000000000" pitchFamily="34" charset="-128"/>
                <a:cs typeface="Leelawadee" panose="020B0502040204020203" pitchFamily="34" charset="-34"/>
              </a:rPr>
              <a:t>Conclusion</a:t>
            </a:r>
          </a:p>
        </p:txBody>
      </p:sp>
      <p:sp>
        <p:nvSpPr>
          <p:cNvPr id="6" name="Rectangle 3">
            <a:extLst>
              <a:ext uri="{FF2B5EF4-FFF2-40B4-BE49-F238E27FC236}">
                <a16:creationId xmlns:a16="http://schemas.microsoft.com/office/drawing/2014/main" id="{C8ED2B6A-58C9-4610-B2F1-5300439584FD}"/>
              </a:ext>
            </a:extLst>
          </p:cNvPr>
          <p:cNvSpPr>
            <a:spLocks noChangeArrowheads="1"/>
          </p:cNvSpPr>
          <p:nvPr/>
        </p:nvSpPr>
        <p:spPr bwMode="auto">
          <a:xfrm>
            <a:off x="806599" y="2443386"/>
            <a:ext cx="101600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2400" dirty="0"/>
              <a:t>We have uncovered key patterns in guest </a:t>
            </a:r>
            <a:r>
              <a:rPr lang="en-GB" sz="2400" dirty="0" err="1"/>
              <a:t>behavior</a:t>
            </a:r>
            <a:r>
              <a:rPr lang="en-GB" sz="2400" dirty="0"/>
              <a:t> and booking cancellations. By identifying factors like guest type, lead time, and special requests, hotels can better predict cancellations and adjust strategies accordingly.</a:t>
            </a:r>
          </a:p>
          <a:p>
            <a:endParaRPr lang="en-GB" sz="2400" dirty="0"/>
          </a:p>
          <a:p>
            <a:r>
              <a:rPr lang="en-GB" sz="2400" dirty="0"/>
              <a:t>These insights give hotels the chance to take smarter actions — like targeting the right customer groups, adjusting booking policies, and improving the guest experience. Overall, this analysis helps turn raw booking data into clear strategies for reducing cancellations, increasing revenue, and making more confident business decisions.</a:t>
            </a:r>
          </a:p>
        </p:txBody>
      </p:sp>
      <p:grpSp>
        <p:nvGrpSpPr>
          <p:cNvPr id="9" name="Group 8">
            <a:extLst>
              <a:ext uri="{FF2B5EF4-FFF2-40B4-BE49-F238E27FC236}">
                <a16:creationId xmlns:a16="http://schemas.microsoft.com/office/drawing/2014/main" id="{4F6CE9C4-CD07-429F-B847-04987FE2AF42}"/>
              </a:ext>
            </a:extLst>
          </p:cNvPr>
          <p:cNvGrpSpPr/>
          <p:nvPr/>
        </p:nvGrpSpPr>
        <p:grpSpPr>
          <a:xfrm>
            <a:off x="73160" y="5353468"/>
            <a:ext cx="12118840" cy="1458084"/>
            <a:chOff x="73160" y="5353468"/>
            <a:chExt cx="12118840" cy="1458084"/>
          </a:xfrm>
        </p:grpSpPr>
        <p:cxnSp>
          <p:nvCxnSpPr>
            <p:cNvPr id="10" name="Straight Connector 9">
              <a:extLst>
                <a:ext uri="{FF2B5EF4-FFF2-40B4-BE49-F238E27FC236}">
                  <a16:creationId xmlns:a16="http://schemas.microsoft.com/office/drawing/2014/main" id="{4A53BFA2-0225-45CD-88F6-151E83CDEF34}"/>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F6EA3799-A350-4874-ABA5-449DEFA0B3C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Tree>
    <p:extLst>
      <p:ext uri="{BB962C8B-B14F-4D97-AF65-F5344CB8AC3E}">
        <p14:creationId xmlns:p14="http://schemas.microsoft.com/office/powerpoint/2010/main" val="3423380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C159577-DA31-4379-AE8C-85F161867300}"/>
              </a:ext>
            </a:extLst>
          </p:cNvPr>
          <p:cNvSpPr txBox="1"/>
          <p:nvPr/>
        </p:nvSpPr>
        <p:spPr>
          <a:xfrm>
            <a:off x="3956759" y="2707666"/>
            <a:ext cx="5152241" cy="923330"/>
          </a:xfrm>
          <a:prstGeom prst="rect">
            <a:avLst/>
          </a:prstGeom>
          <a:noFill/>
        </p:spPr>
        <p:txBody>
          <a:bodyPr wrap="square">
            <a:spAutoFit/>
          </a:bodyPr>
          <a:lstStyle/>
          <a:p>
            <a:pPr lvl="0"/>
            <a:r>
              <a:rPr lang="en-IN" sz="5400" b="1" dirty="0">
                <a:latin typeface="Leelawadee" panose="020B0502040204020203" pitchFamily="34" charset="-34"/>
                <a:ea typeface="Yu Gothic UI Semibold" panose="020B0700000000000000" pitchFamily="34" charset="-128"/>
                <a:cs typeface="Leelawadee" panose="020B0502040204020203" pitchFamily="34" charset="-34"/>
              </a:rPr>
              <a:t>Thank you</a:t>
            </a:r>
          </a:p>
        </p:txBody>
      </p:sp>
      <p:grpSp>
        <p:nvGrpSpPr>
          <p:cNvPr id="10" name="Group 9">
            <a:extLst>
              <a:ext uri="{FF2B5EF4-FFF2-40B4-BE49-F238E27FC236}">
                <a16:creationId xmlns:a16="http://schemas.microsoft.com/office/drawing/2014/main" id="{9B0EC7E5-A31F-432A-BD73-7D68A51ADB63}"/>
              </a:ext>
            </a:extLst>
          </p:cNvPr>
          <p:cNvGrpSpPr/>
          <p:nvPr/>
        </p:nvGrpSpPr>
        <p:grpSpPr>
          <a:xfrm>
            <a:off x="73160" y="5353468"/>
            <a:ext cx="12118840" cy="1458084"/>
            <a:chOff x="73160" y="5353468"/>
            <a:chExt cx="12118840" cy="1458084"/>
          </a:xfrm>
        </p:grpSpPr>
        <p:cxnSp>
          <p:nvCxnSpPr>
            <p:cNvPr id="11" name="Straight Connector 10">
              <a:extLst>
                <a:ext uri="{FF2B5EF4-FFF2-40B4-BE49-F238E27FC236}">
                  <a16:creationId xmlns:a16="http://schemas.microsoft.com/office/drawing/2014/main" id="{07E7E749-D7DE-4409-8734-0DA90EC11157}"/>
                </a:ext>
              </a:extLst>
            </p:cNvPr>
            <p:cNvCxnSpPr>
              <a:cxnSpLocks/>
            </p:cNvCxnSpPr>
            <p:nvPr/>
          </p:nvCxnSpPr>
          <p:spPr>
            <a:xfrm>
              <a:off x="73160" y="6580930"/>
              <a:ext cx="12054086" cy="80712"/>
            </a:xfrm>
            <a:prstGeom prst="line">
              <a:avLst/>
            </a:prstGeom>
            <a:ln w="76200">
              <a:solidFill>
                <a:schemeClr val="accent1">
                  <a:lumMod val="75000"/>
                </a:schemeClr>
              </a:solidFill>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4FD89AD9-DD3D-4C03-97FD-8BBF1654F95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13739" y1="58222" x2="13739" y2="58222"/>
                          <a14:foregroundMark x1="15058" y1="56121" x2="15058" y2="58990"/>
                          <a14:foregroundMark x1="16152" y1="63677" x2="18662" y2="71798"/>
                          <a14:foregroundMark x1="18662" y1="71798" x2="18662" y2="71798"/>
                          <a14:foregroundMark x1="18179" y1="68929" x2="15766" y2="61859"/>
                          <a14:foregroundMark x1="19424" y1="76388" x2="19015" y2="71798"/>
                          <a14:foregroundMark x1="20238" y1="85535" x2="20000" y2="82866"/>
                          <a14:foregroundMark x1="79955" y1="78545" x2="80309" y2="75515"/>
                          <a14:foregroundMark x1="83364" y1="63886" x2="84492" y2="59677"/>
                          <a14:foregroundMark x1="82207" y1="68202" x2="82838" y2="65850"/>
                          <a14:foregroundMark x1="76448" y1="86182" x2="79311" y2="84485"/>
                          <a14:backgroundMark x1="19755" y1="83717" x2="19434" y2="80323"/>
                          <a14:backgroundMark x1="18951" y1="76485" x2="19788" y2="82909"/>
                          <a14:backgroundMark x1="19498" y1="82384" x2="19820" y2="83798"/>
                          <a14:backgroundMark x1="18855" y1="83758" x2="19820" y2="82909"/>
                          <a14:backgroundMark x1="78282" y1="79273" x2="78121" y2="82909"/>
                          <a14:backgroundMark x1="78636" y1="79717" x2="78636" y2="79717"/>
                          <a14:backgroundMark x1="78636" y1="79717" x2="79054" y2="81212"/>
                          <a14:backgroundMark x1="79054" y1="81212" x2="79054" y2="80364"/>
                          <a14:backgroundMark x1="77445" y1="84727" x2="77606" y2="84081"/>
                          <a14:backgroundMark x1="79215" y1="80040" x2="79215" y2="80040"/>
                          <a14:backgroundMark x1="79215" y1="80040" x2="79215" y2="80040"/>
                          <a14:backgroundMark x1="83044" y1="64889" x2="83044" y2="64889"/>
                          <a14:backgroundMark x1="83237" y1="63838" x2="82754" y2="65818"/>
                          <a14:backgroundMark x1="79344" y1="80040" x2="79376" y2="78949"/>
                        </a14:backgroundRemoval>
                      </a14:imgEffect>
                    </a14:imgLayer>
                  </a14:imgProps>
                </a:ext>
                <a:ext uri="{28A0092B-C50C-407E-A947-70E740481C1C}">
                  <a14:useLocalDpi xmlns:a14="http://schemas.microsoft.com/office/drawing/2010/main" val="0"/>
                </a:ext>
              </a:extLst>
            </a:blip>
            <a:stretch>
              <a:fillRect/>
            </a:stretch>
          </p:blipFill>
          <p:spPr>
            <a:xfrm>
              <a:off x="10361295" y="5353468"/>
              <a:ext cx="1830705" cy="1458084"/>
            </a:xfrm>
            <a:prstGeom prst="rect">
              <a:avLst/>
            </a:prstGeom>
          </p:spPr>
        </p:pic>
      </p:grpSp>
    </p:spTree>
    <p:extLst>
      <p:ext uri="{BB962C8B-B14F-4D97-AF65-F5344CB8AC3E}">
        <p14:creationId xmlns:p14="http://schemas.microsoft.com/office/powerpoint/2010/main" val="241020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1967</TotalTime>
  <Words>870</Words>
  <Application>Microsoft Office PowerPoint</Application>
  <PresentationFormat>Widescreen</PresentationFormat>
  <Paragraphs>145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MILIN RAO DESHMUKH</dc:creator>
  <cp:lastModifiedBy>MILIN RAO DESHMUKH</cp:lastModifiedBy>
  <cp:revision>78</cp:revision>
  <dcterms:created xsi:type="dcterms:W3CDTF">2024-09-22T14:03:51Z</dcterms:created>
  <dcterms:modified xsi:type="dcterms:W3CDTF">2025-07-27T17:11:29Z</dcterms:modified>
</cp:coreProperties>
</file>